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0" r:id="rId4"/>
    <p:sldId id="262" r:id="rId5"/>
    <p:sldId id="261" r:id="rId6"/>
    <p:sldId id="267" r:id="rId7"/>
    <p:sldId id="266" r:id="rId8"/>
    <p:sldId id="282" r:id="rId9"/>
    <p:sldId id="268" r:id="rId10"/>
    <p:sldId id="281" r:id="rId11"/>
    <p:sldId id="270" r:id="rId12"/>
    <p:sldId id="276" r:id="rId13"/>
    <p:sldId id="271" r:id="rId14"/>
    <p:sldId id="272" r:id="rId15"/>
    <p:sldId id="273" r:id="rId16"/>
    <p:sldId id="277" r:id="rId17"/>
    <p:sldId id="279" r:id="rId18"/>
    <p:sldId id="278" r:id="rId19"/>
    <p:sldId id="283" r:id="rId20"/>
    <p:sldId id="269" r:id="rId21"/>
    <p:sldId id="280" r:id="rId22"/>
    <p:sldId id="284" r:id="rId23"/>
    <p:sldId id="286" r:id="rId24"/>
    <p:sldId id="285" r:id="rId25"/>
    <p:sldId id="26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varScale="1">
        <p:scale>
          <a:sx n="122" d="100"/>
          <a:sy n="122" d="100"/>
        </p:scale>
        <p:origin x="240"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7842B-99E3-4BF7-1FCA-C8BCA91E84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A1AA99-770E-F3F9-F758-D29A86294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18EDFF-9D34-D1AA-7279-13A213CF25F5}"/>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5" name="Footer Placeholder 4">
            <a:extLst>
              <a:ext uri="{FF2B5EF4-FFF2-40B4-BE49-F238E27FC236}">
                <a16:creationId xmlns:a16="http://schemas.microsoft.com/office/drawing/2014/main" id="{B20E78A9-F066-81BC-4CB7-DF5D8B23FF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D70E229-35DA-2FE3-98F3-34EC574283E1}"/>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227824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5F40C-6B32-FC1A-BA11-BF6A3BFB28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AF0CB6-AA56-F9BB-A828-2FA2C4F940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2CAFA1-3BA4-CAC4-8634-3676BA98FB1C}"/>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5" name="Footer Placeholder 4">
            <a:extLst>
              <a:ext uri="{FF2B5EF4-FFF2-40B4-BE49-F238E27FC236}">
                <a16:creationId xmlns:a16="http://schemas.microsoft.com/office/drawing/2014/main" id="{C0104AA5-82B9-8190-7ECA-449F589B3B6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D529492-E4AA-2791-C347-6A08CC8773FA}"/>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4100952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2093A-5F4C-AA36-C75D-2C07AA95C1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0D0815-A706-C67C-AE1F-D25E122D50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B663D-A947-44E4-6945-AD62AF4DDE4C}"/>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5" name="Footer Placeholder 4">
            <a:extLst>
              <a:ext uri="{FF2B5EF4-FFF2-40B4-BE49-F238E27FC236}">
                <a16:creationId xmlns:a16="http://schemas.microsoft.com/office/drawing/2014/main" id="{0D5261A4-4D0D-5DD6-3B2E-C61F315E68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6F60EE9-1DF9-7C38-1FD9-F4732AAC5833}"/>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2798728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CFCCF-490D-D425-668A-31BEDD34B8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737A36-582D-A661-1285-6C26890F9F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B391F7-84E2-61A2-4509-C2D55F5538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2DB99A-8A66-8B15-52DA-BC971E570932}"/>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6" name="Footer Placeholder 5">
            <a:extLst>
              <a:ext uri="{FF2B5EF4-FFF2-40B4-BE49-F238E27FC236}">
                <a16:creationId xmlns:a16="http://schemas.microsoft.com/office/drawing/2014/main" id="{59D16C31-BFD2-D973-0839-5D1397AA0A7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39F31F-7E7C-D6FF-8D30-3D8B7D072E22}"/>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2529446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3161-4E49-9282-9AB4-E2265B013A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CB5590-9492-4F34-D6B7-E23403975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6AEF65-72D1-A9EF-34C2-EEC9133030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C0574F-4A94-0AEC-55F4-D0E0DBF4DA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1C46C3-B424-67C5-164C-D5639C803C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4E667BC-A7DD-95E9-5D10-9FB1DF49B726}"/>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8" name="Footer Placeholder 7">
            <a:extLst>
              <a:ext uri="{FF2B5EF4-FFF2-40B4-BE49-F238E27FC236}">
                <a16:creationId xmlns:a16="http://schemas.microsoft.com/office/drawing/2014/main" id="{5E07DD0B-FD0E-9B20-8D5E-2E9DEC7FEE5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88757F8-D850-BF16-9E6E-F571C5D9E5F4}"/>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931226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CA4C0-A695-E7ED-52A2-5A2ABA6DD4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6FEE5D-FD1F-91D8-A7E0-5F6F00EC2612}"/>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4" name="Footer Placeholder 3">
            <a:extLst>
              <a:ext uri="{FF2B5EF4-FFF2-40B4-BE49-F238E27FC236}">
                <a16:creationId xmlns:a16="http://schemas.microsoft.com/office/drawing/2014/main" id="{30D2CA13-9E1E-70C4-4E3C-A73B3B30B5E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FC008A1-448E-83B3-3674-991487107CB1}"/>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84572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099C56-0FD3-8C37-72F2-CFCA67EF4AFC}"/>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3" name="Footer Placeholder 2">
            <a:extLst>
              <a:ext uri="{FF2B5EF4-FFF2-40B4-BE49-F238E27FC236}">
                <a16:creationId xmlns:a16="http://schemas.microsoft.com/office/drawing/2014/main" id="{BFC663FF-ED81-A332-C964-568530E7E2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F00D615-43E7-A2D9-791B-77495CC0F655}"/>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1408395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5ED5B-87BE-9130-752C-2C5F0D6631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91B684-53A2-CD4C-8B63-8AEF45E6C6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DDF850-0560-EC41-E944-7DA0767BCF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36657B-8CA2-6E71-8722-1F467A6D0855}"/>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6" name="Footer Placeholder 5">
            <a:extLst>
              <a:ext uri="{FF2B5EF4-FFF2-40B4-BE49-F238E27FC236}">
                <a16:creationId xmlns:a16="http://schemas.microsoft.com/office/drawing/2014/main" id="{A0968E4F-EA8F-B562-989E-45E1D18D230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683A5E1-14A8-6E14-B101-46DA7445D6E6}"/>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2527055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AE4D8-6F0A-BDC8-1955-A10A4F5108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1BBA71-8D80-3694-79F3-E7FC1E2CC7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0F6D77C-9B62-0CA1-426E-6658A653C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612F66-9CB0-2AF6-EFD5-06A149047BF6}"/>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6" name="Footer Placeholder 5">
            <a:extLst>
              <a:ext uri="{FF2B5EF4-FFF2-40B4-BE49-F238E27FC236}">
                <a16:creationId xmlns:a16="http://schemas.microsoft.com/office/drawing/2014/main" id="{8C1639C1-B95A-23EB-E853-9EA76CC4B2C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9E75611-CDB2-6752-2CEE-AA4373C77757}"/>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2397860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1C0E2-8684-68CF-21B1-A64F277C10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37BFCB-5F7C-101B-6C68-1211FD4F39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9AF33-EEA5-864D-5E27-55E46BDE7649}"/>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5" name="Footer Placeholder 4">
            <a:extLst>
              <a:ext uri="{FF2B5EF4-FFF2-40B4-BE49-F238E27FC236}">
                <a16:creationId xmlns:a16="http://schemas.microsoft.com/office/drawing/2014/main" id="{78CE2369-0E45-2FFD-7174-68799A0AFB0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F2DBE49-F228-27C6-9EB2-F12E99F4581E}"/>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96215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3EB28C-3B3B-0F01-9D98-33EA1DE8B8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868291-1BD6-D075-6011-B680CA8454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D9076E-7AA4-5EBD-4125-87AEA1D0E70A}"/>
              </a:ext>
            </a:extLst>
          </p:cNvPr>
          <p:cNvSpPr>
            <a:spLocks noGrp="1"/>
          </p:cNvSpPr>
          <p:nvPr>
            <p:ph type="dt" sz="half" idx="10"/>
          </p:nvPr>
        </p:nvSpPr>
        <p:spPr/>
        <p:txBody>
          <a:bodyPr/>
          <a:lstStyle/>
          <a:p>
            <a:fld id="{36C3C46B-A1F9-4727-ADE4-738D304CF6AD}" type="datetimeFigureOut">
              <a:rPr lang="en-US" smtClean="0"/>
              <a:t>5/1/24</a:t>
            </a:fld>
            <a:endParaRPr lang="en-US" dirty="0"/>
          </a:p>
        </p:txBody>
      </p:sp>
      <p:sp>
        <p:nvSpPr>
          <p:cNvPr id="5" name="Footer Placeholder 4">
            <a:extLst>
              <a:ext uri="{FF2B5EF4-FFF2-40B4-BE49-F238E27FC236}">
                <a16:creationId xmlns:a16="http://schemas.microsoft.com/office/drawing/2014/main" id="{90B08EE0-CCFF-5610-B9D4-B407D56C6EE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160825A-1A77-410A-13EA-47FB710EDB14}"/>
              </a:ext>
            </a:extLst>
          </p:cNvPr>
          <p:cNvSpPr>
            <a:spLocks noGrp="1"/>
          </p:cNvSpPr>
          <p:nvPr>
            <p:ph type="sldNum" sz="quarter" idx="12"/>
          </p:nvPr>
        </p:nvSpPr>
        <p:spPr/>
        <p:txBody>
          <a:bodyPr/>
          <a:lstStyle/>
          <a:p>
            <a:fld id="{4E3DAC53-1EE2-43E5-8905-5C7AB238AA8B}" type="slidenum">
              <a:rPr lang="en-US" smtClean="0"/>
              <a:t>‹#›</a:t>
            </a:fld>
            <a:endParaRPr lang="en-US" dirty="0"/>
          </a:p>
        </p:txBody>
      </p:sp>
    </p:spTree>
    <p:extLst>
      <p:ext uri="{BB962C8B-B14F-4D97-AF65-F5344CB8AC3E}">
        <p14:creationId xmlns:p14="http://schemas.microsoft.com/office/powerpoint/2010/main" val="1096360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B2ABAE-DBD8-820C-DFA9-298BBDEBF6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CD5FC5-DE69-4FE1-55C2-A8D37943DC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325B3-D9EA-160A-7C3B-7DA79CD3CD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C3C46B-A1F9-4727-ADE4-738D304CF6AD}" type="datetimeFigureOut">
              <a:rPr lang="en-US" smtClean="0"/>
              <a:t>5/1/24</a:t>
            </a:fld>
            <a:endParaRPr lang="en-US" dirty="0"/>
          </a:p>
        </p:txBody>
      </p:sp>
      <p:sp>
        <p:nvSpPr>
          <p:cNvPr id="5" name="Footer Placeholder 4">
            <a:extLst>
              <a:ext uri="{FF2B5EF4-FFF2-40B4-BE49-F238E27FC236}">
                <a16:creationId xmlns:a16="http://schemas.microsoft.com/office/drawing/2014/main" id="{3AEF9587-1AB8-B0AA-6843-83C0DF20B9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C74C113-FFBA-0A84-76A2-376A2B43E6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3DAC53-1EE2-43E5-8905-5C7AB238AA8B}" type="slidenum">
              <a:rPr lang="en-US" smtClean="0"/>
              <a:t>‹#›</a:t>
            </a:fld>
            <a:endParaRPr lang="en-US" dirty="0"/>
          </a:p>
        </p:txBody>
      </p:sp>
    </p:spTree>
    <p:extLst>
      <p:ext uri="{BB962C8B-B14F-4D97-AF65-F5344CB8AC3E}">
        <p14:creationId xmlns:p14="http://schemas.microsoft.com/office/powerpoint/2010/main" val="662287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AA95B-385F-BB4E-896C-281B4884874E}"/>
              </a:ext>
            </a:extLst>
          </p:cNvPr>
          <p:cNvSpPr>
            <a:spLocks noGrp="1"/>
          </p:cNvSpPr>
          <p:nvPr>
            <p:ph type="ctrTitle"/>
          </p:nvPr>
        </p:nvSpPr>
        <p:spPr>
          <a:xfrm>
            <a:off x="246183" y="0"/>
            <a:ext cx="11699631" cy="6424247"/>
          </a:xfrm>
        </p:spPr>
        <p:txBody>
          <a:bodyPr>
            <a:noAutofit/>
          </a:bodyPr>
          <a:lstStyle/>
          <a:p>
            <a: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INTEGRATING </a:t>
            </a:r>
            <a:b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br>
            <a: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SUPERVISED </a:t>
            </a:r>
            <a:b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br>
            <a: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AND UNSUPERVISED</a:t>
            </a:r>
            <a:b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br>
            <a: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 LEARNING FOR</a:t>
            </a:r>
            <a:b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br>
            <a: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ZERO DAY </a:t>
            </a:r>
            <a:b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br>
            <a: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t>MALWARE DETECTION</a:t>
            </a:r>
            <a:br>
              <a:rPr lang="en-US" sz="5400" b="1" dirty="0">
                <a:solidFill>
                  <a:schemeClr val="bg1"/>
                </a:solidFill>
                <a:effectLst/>
                <a:latin typeface="Arial" panose="020B0604020202020204" pitchFamily="34" charset="0"/>
                <a:ea typeface="Calibri" panose="020F0502020204030204" pitchFamily="34" charset="0"/>
                <a:cs typeface="Arial" panose="020B0604020202020204" pitchFamily="34" charset="0"/>
              </a:rPr>
            </a:br>
            <a:br>
              <a:rPr lang="en-US" sz="5400" dirty="0">
                <a:effectLst/>
                <a:latin typeface="Calibri" panose="020F0502020204030204" pitchFamily="34" charset="0"/>
                <a:ea typeface="Calibri" panose="020F0502020204030204" pitchFamily="34" charset="0"/>
                <a:cs typeface="Times New Roman" panose="02020603050405020304" pitchFamily="18" charset="0"/>
              </a:rPr>
            </a:br>
            <a:endParaRPr lang="en-US" sz="5400" dirty="0"/>
          </a:p>
        </p:txBody>
      </p:sp>
      <p:sp>
        <p:nvSpPr>
          <p:cNvPr id="3" name="Subtitle 2">
            <a:extLst>
              <a:ext uri="{FF2B5EF4-FFF2-40B4-BE49-F238E27FC236}">
                <a16:creationId xmlns:a16="http://schemas.microsoft.com/office/drawing/2014/main" id="{AE1AEF9D-8798-61AF-93C3-15CEFC256610}"/>
              </a:ext>
            </a:extLst>
          </p:cNvPr>
          <p:cNvSpPr>
            <a:spLocks noGrp="1"/>
          </p:cNvSpPr>
          <p:nvPr>
            <p:ph type="subTitle" idx="1"/>
          </p:nvPr>
        </p:nvSpPr>
        <p:spPr>
          <a:xfrm>
            <a:off x="1523998" y="5297233"/>
            <a:ext cx="9144000" cy="1655762"/>
          </a:xfrm>
        </p:spPr>
        <p:txBody>
          <a:bodyPr>
            <a:normAutofit fontScale="92500" lnSpcReduction="20000"/>
          </a:bodyPr>
          <a:lstStyle/>
          <a:p>
            <a:r>
              <a:rPr lang="en-US" dirty="0">
                <a:solidFill>
                  <a:schemeClr val="bg1"/>
                </a:solidFill>
                <a:latin typeface="Arial" panose="020B0604020202020204" pitchFamily="34" charset="0"/>
                <a:cs typeface="Arial" panose="020B0604020202020204" pitchFamily="34" charset="0"/>
              </a:rPr>
              <a:t>Presented by:</a:t>
            </a:r>
            <a:endParaRPr lang="en-US" sz="2000" dirty="0">
              <a:solidFill>
                <a:schemeClr val="bg1"/>
              </a:solidFill>
              <a:latin typeface="Arial" panose="020B0604020202020204" pitchFamily="34" charset="0"/>
              <a:cs typeface="Arial" panose="020B0604020202020204" pitchFamily="34" charset="0"/>
            </a:endParaRPr>
          </a:p>
          <a:p>
            <a:r>
              <a:rPr lang="en-US" sz="2000" dirty="0">
                <a:solidFill>
                  <a:schemeClr val="bg1"/>
                </a:solidFill>
                <a:latin typeface="Arial" panose="020B0604020202020204" pitchFamily="34" charset="0"/>
                <a:cs typeface="Arial" panose="020B0604020202020204" pitchFamily="34" charset="0"/>
              </a:rPr>
              <a:t>SANYAM JINDAL (22BAI1192)</a:t>
            </a:r>
          </a:p>
          <a:p>
            <a:br>
              <a:rPr lang="en-US" sz="2000" dirty="0">
                <a:solidFill>
                  <a:schemeClr val="bg1"/>
                </a:solidFill>
                <a:latin typeface="Arial" panose="020B0604020202020204" pitchFamily="34" charset="0"/>
                <a:cs typeface="Arial" panose="020B0604020202020204" pitchFamily="34" charset="0"/>
              </a:rPr>
            </a:br>
            <a:r>
              <a:rPr lang="en-US" sz="2000" dirty="0">
                <a:solidFill>
                  <a:schemeClr val="bg1"/>
                </a:solidFill>
                <a:latin typeface="Arial" panose="020B0604020202020204" pitchFamily="34" charset="0"/>
                <a:cs typeface="Arial" panose="020B0604020202020204" pitchFamily="34" charset="0"/>
              </a:rPr>
              <a:t>Nikunj</a:t>
            </a:r>
          </a:p>
          <a:p>
            <a:r>
              <a:rPr lang="en-US" sz="2000" dirty="0">
                <a:solidFill>
                  <a:schemeClr val="bg1"/>
                </a:solidFill>
                <a:latin typeface="Arial" panose="020B0604020202020204" pitchFamily="34" charset="0"/>
                <a:cs typeface="Arial" panose="020B0604020202020204" pitchFamily="34" charset="0"/>
              </a:rPr>
              <a:t>Abhishek</a:t>
            </a:r>
          </a:p>
        </p:txBody>
      </p:sp>
      <p:sp>
        <p:nvSpPr>
          <p:cNvPr id="4" name="TextBox 3">
            <a:extLst>
              <a:ext uri="{FF2B5EF4-FFF2-40B4-BE49-F238E27FC236}">
                <a16:creationId xmlns:a16="http://schemas.microsoft.com/office/drawing/2014/main" id="{7D4CF305-CC28-0CE4-3498-355287EE67DA}"/>
              </a:ext>
            </a:extLst>
          </p:cNvPr>
          <p:cNvSpPr txBox="1"/>
          <p:nvPr/>
        </p:nvSpPr>
        <p:spPr>
          <a:xfrm>
            <a:off x="5351544" y="4997420"/>
            <a:ext cx="1940169" cy="369332"/>
          </a:xfrm>
          <a:prstGeom prst="rect">
            <a:avLst/>
          </a:prstGeom>
          <a:noFill/>
        </p:spPr>
        <p:txBody>
          <a:bodyPr wrap="square" rtlCol="0">
            <a:spAutoFit/>
          </a:bodyPr>
          <a:lstStyle/>
          <a:p>
            <a:r>
              <a:rPr lang="en-US" dirty="0">
                <a:solidFill>
                  <a:schemeClr val="bg1"/>
                </a:solidFill>
              </a:rPr>
              <a:t>FINAL PROJECT</a:t>
            </a:r>
          </a:p>
        </p:txBody>
      </p:sp>
    </p:spTree>
    <p:extLst>
      <p:ext uri="{BB962C8B-B14F-4D97-AF65-F5344CB8AC3E}">
        <p14:creationId xmlns:p14="http://schemas.microsoft.com/office/powerpoint/2010/main" val="2363412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C4C24-4AE0-E9D2-2E94-672D751557C1}"/>
              </a:ext>
            </a:extLst>
          </p:cNvPr>
          <p:cNvSpPr>
            <a:spLocks noGrp="1"/>
          </p:cNvSpPr>
          <p:nvPr>
            <p:ph type="title"/>
          </p:nvPr>
        </p:nvSpPr>
        <p:spPr>
          <a:xfrm>
            <a:off x="-2" y="199291"/>
            <a:ext cx="12109937" cy="1101968"/>
          </a:xfrm>
        </p:spPr>
        <p:txBody>
          <a:bodyPr>
            <a:normAutofit/>
          </a:bodyPr>
          <a:lstStyle/>
          <a:p>
            <a:r>
              <a:rPr lang="en-US" sz="6600" b="1" dirty="0">
                <a:solidFill>
                  <a:schemeClr val="bg1"/>
                </a:solidFill>
                <a:latin typeface="Arial" panose="020B0604020202020204" pitchFamily="34" charset="0"/>
                <a:cs typeface="Arial" panose="020B0604020202020204" pitchFamily="34" charset="0"/>
              </a:rPr>
              <a:t>Introduction</a:t>
            </a:r>
          </a:p>
        </p:txBody>
      </p:sp>
      <p:sp>
        <p:nvSpPr>
          <p:cNvPr id="3" name="Content Placeholder 2">
            <a:extLst>
              <a:ext uri="{FF2B5EF4-FFF2-40B4-BE49-F238E27FC236}">
                <a16:creationId xmlns:a16="http://schemas.microsoft.com/office/drawing/2014/main" id="{45ABFD75-DE3B-FE6A-9DD1-0B871334B168}"/>
              </a:ext>
            </a:extLst>
          </p:cNvPr>
          <p:cNvSpPr>
            <a:spLocks noGrp="1"/>
          </p:cNvSpPr>
          <p:nvPr>
            <p:ph idx="1"/>
          </p:nvPr>
        </p:nvSpPr>
        <p:spPr>
          <a:xfrm>
            <a:off x="-2" y="1488831"/>
            <a:ext cx="12109937" cy="5169878"/>
          </a:xfrm>
        </p:spPr>
        <p:txBody>
          <a:bodyPr>
            <a:noAutofit/>
          </a:bodyPr>
          <a:lstStyle/>
          <a:p>
            <a:pPr>
              <a:lnSpc>
                <a:spcPct val="200000"/>
              </a:lnSpc>
              <a:buFont typeface="Wingdings" panose="05000000000000000000" pitchFamily="2" charset="2"/>
              <a:buChar char="q"/>
            </a:pPr>
            <a:r>
              <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1. Cybercrime and attack methods have surged since 2019, coinciding with the pandemic, with a notable increase in the number of victims and attacks per hour.</a:t>
            </a:r>
          </a:p>
          <a:p>
            <a:pPr>
              <a:lnSpc>
                <a:spcPct val="200000"/>
              </a:lnSpc>
              <a:buFont typeface="Wingdings" panose="05000000000000000000" pitchFamily="2" charset="2"/>
              <a:buChar char="q"/>
            </a:pPr>
            <a:r>
              <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2. The threat landscape has expanded rapidly due to the introduction of new technologies and the digital transformation of businesses, including IoT, cloud hosting, and advanced mobile technologies.</a:t>
            </a:r>
          </a:p>
          <a:p>
            <a:pPr>
              <a:lnSpc>
                <a:spcPct val="200000"/>
              </a:lnSpc>
              <a:buFont typeface="Wingdings" panose="05000000000000000000" pitchFamily="2" charset="2"/>
              <a:buChar char="q"/>
            </a:pPr>
            <a:r>
              <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3. Zero-day exploits have seen a dramatic rise across industries, posing significant challenges as they can evade traditional signature and anomaly-based detection methods, as well as antivirus software.</a:t>
            </a:r>
          </a:p>
          <a:p>
            <a:pPr>
              <a:lnSpc>
                <a:spcPct val="200000"/>
              </a:lnSpc>
              <a:buFont typeface="Wingdings" panose="05000000000000000000" pitchFamily="2" charset="2"/>
              <a:buChar char="q"/>
            </a:pPr>
            <a:r>
              <a:rPr lang="en-US" sz="1800" dirty="0">
                <a:solidFill>
                  <a:schemeClr val="bg1"/>
                </a:solidFill>
                <a:latin typeface="Arial" panose="020B0604020202020204" pitchFamily="34" charset="0"/>
                <a:ea typeface="Times New Roman" panose="02020603050405020304" pitchFamily="18" charset="0"/>
                <a:cs typeface="Arial" panose="020B0604020202020204" pitchFamily="34" charset="0"/>
              </a:rPr>
              <a:t>4</a:t>
            </a:r>
            <a:r>
              <a:rPr lang="en-US" sz="18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To combat these sophisticated threats, frameworks integrating AI, including machine learning and deep learning, alongside traditional techniques, are proving to be more effective in detecting zero-days and other novel malware.</a:t>
            </a:r>
          </a:p>
        </p:txBody>
      </p:sp>
    </p:spTree>
    <p:extLst>
      <p:ext uri="{BB962C8B-B14F-4D97-AF65-F5344CB8AC3E}">
        <p14:creationId xmlns:p14="http://schemas.microsoft.com/office/powerpoint/2010/main" val="1734910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E5C0F-4250-5121-2C40-FD60F095A714}"/>
              </a:ext>
            </a:extLst>
          </p:cNvPr>
          <p:cNvSpPr>
            <a:spLocks noGrp="1"/>
          </p:cNvSpPr>
          <p:nvPr>
            <p:ph type="title"/>
          </p:nvPr>
        </p:nvSpPr>
        <p:spPr>
          <a:xfrm>
            <a:off x="0" y="1"/>
            <a:ext cx="12192000" cy="1137138"/>
          </a:xfrm>
        </p:spPr>
        <p:txBody>
          <a:bodyPr>
            <a:normAutofit/>
          </a:bodyPr>
          <a:lstStyle/>
          <a:p>
            <a:r>
              <a:rPr lang="en-US" sz="6600" b="1" dirty="0">
                <a:solidFill>
                  <a:schemeClr val="bg1"/>
                </a:solidFill>
                <a:latin typeface="Arial" panose="020B0604020202020204" pitchFamily="34" charset="0"/>
                <a:cs typeface="Arial" panose="020B0604020202020204" pitchFamily="34" charset="0"/>
              </a:rPr>
              <a:t>Threat Landscape</a:t>
            </a:r>
          </a:p>
        </p:txBody>
      </p:sp>
      <p:sp>
        <p:nvSpPr>
          <p:cNvPr id="3" name="Content Placeholder 2">
            <a:extLst>
              <a:ext uri="{FF2B5EF4-FFF2-40B4-BE49-F238E27FC236}">
                <a16:creationId xmlns:a16="http://schemas.microsoft.com/office/drawing/2014/main" id="{50230109-2AAC-02A1-DB45-A2F7100D0BEC}"/>
              </a:ext>
            </a:extLst>
          </p:cNvPr>
          <p:cNvSpPr>
            <a:spLocks noGrp="1"/>
          </p:cNvSpPr>
          <p:nvPr>
            <p:ph sz="half" idx="1"/>
          </p:nvPr>
        </p:nvSpPr>
        <p:spPr>
          <a:xfrm>
            <a:off x="0" y="1137138"/>
            <a:ext cx="7514492" cy="5720861"/>
          </a:xfrm>
        </p:spPr>
        <p:txBody>
          <a:bodyPr>
            <a:noAutofit/>
          </a:bodyPr>
          <a:lstStyle/>
          <a:p>
            <a:pPr marL="0" indent="0">
              <a:buNone/>
            </a:pPr>
            <a:r>
              <a:rPr lang="en-US" sz="2400" b="1" dirty="0">
                <a:solidFill>
                  <a:schemeClr val="bg1"/>
                </a:solidFill>
                <a:latin typeface="Arial" panose="020B0604020202020204" pitchFamily="34" charset="0"/>
                <a:cs typeface="Arial" panose="020B0604020202020204" pitchFamily="34" charset="0"/>
              </a:rPr>
              <a:t>Zero-day Attacks</a:t>
            </a:r>
          </a:p>
          <a:p>
            <a:pPr marL="0" indent="0">
              <a:buNone/>
            </a:pPr>
            <a:endParaRPr lang="en-US" sz="1050" b="1" dirty="0">
              <a:solidFill>
                <a:schemeClr val="bg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E</a:t>
            </a: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xploits of unknown vulnerabilities, or flaws in software and hardware</a:t>
            </a: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M</a:t>
            </a: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ade up 80% of successful incidents involving compromised data.</a:t>
            </a: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Resistant to traditional techniques: antivirus, signature-based, and patching</a:t>
            </a:r>
            <a:endParaRPr lang="en-US" sz="24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r>
              <a:rPr lang="en-US" sz="2400" b="1" dirty="0">
                <a:solidFill>
                  <a:schemeClr val="bg1"/>
                </a:solidFill>
                <a:latin typeface="Arial" panose="020B0604020202020204" pitchFamily="34" charset="0"/>
                <a:cs typeface="Arial" panose="020B0604020202020204" pitchFamily="34" charset="0"/>
              </a:rPr>
              <a:t>Notable</a:t>
            </a:r>
            <a:r>
              <a:rPr lang="en-US" sz="2400" dirty="0">
                <a:solidFill>
                  <a:schemeClr val="bg1"/>
                </a:solidFill>
                <a:latin typeface="Arial" panose="020B0604020202020204" pitchFamily="34" charset="0"/>
                <a:cs typeface="Arial" panose="020B0604020202020204" pitchFamily="34" charset="0"/>
              </a:rPr>
              <a:t> </a:t>
            </a:r>
            <a:r>
              <a:rPr lang="en-US" sz="2400" b="1" dirty="0">
                <a:solidFill>
                  <a:schemeClr val="bg1"/>
                </a:solidFill>
                <a:latin typeface="Arial" panose="020B0604020202020204" pitchFamily="34" charset="0"/>
                <a:cs typeface="Arial" panose="020B0604020202020204" pitchFamily="34" charset="0"/>
              </a:rPr>
              <a:t>Zero-days</a:t>
            </a:r>
          </a:p>
          <a:p>
            <a:pPr marL="0" indent="0">
              <a:buNone/>
            </a:pPr>
            <a:endParaRPr lang="en-US" sz="1050" b="1" dirty="0">
              <a:solidFill>
                <a:schemeClr val="bg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US" dirty="0">
                <a:solidFill>
                  <a:schemeClr val="bg1"/>
                </a:solidFill>
                <a:latin typeface="Arial" panose="020B0604020202020204" pitchFamily="34" charset="0"/>
                <a:cs typeface="Arial" panose="020B0604020202020204" pitchFamily="34" charset="0"/>
              </a:rPr>
              <a:t>Stuxnet- computer worm that targeted Iranian SCADA systems</a:t>
            </a:r>
          </a:p>
          <a:p>
            <a:pPr lvl="1">
              <a:buFont typeface="Wingdings" panose="05000000000000000000" pitchFamily="2" charset="2"/>
              <a:buChar char="q"/>
            </a:pPr>
            <a:r>
              <a:rPr lang="en-US" dirty="0">
                <a:solidFill>
                  <a:schemeClr val="bg1"/>
                </a:solidFill>
                <a:latin typeface="Arial" panose="020B0604020202020204" pitchFamily="34" charset="0"/>
                <a:cs typeface="Arial" panose="020B0604020202020204" pitchFamily="34" charset="0"/>
              </a:rPr>
              <a:t>Sony hacks- data breach</a:t>
            </a:r>
          </a:p>
          <a:p>
            <a:pPr lvl="1">
              <a:buFont typeface="Wingdings" panose="05000000000000000000" pitchFamily="2" charset="2"/>
              <a:buChar char="q"/>
            </a:pPr>
            <a:r>
              <a:rPr lang="en-US" dirty="0">
                <a:solidFill>
                  <a:schemeClr val="bg1"/>
                </a:solidFill>
                <a:latin typeface="Arial" panose="020B0604020202020204" pitchFamily="34" charset="0"/>
                <a:cs typeface="Arial" panose="020B0604020202020204" pitchFamily="34" charset="0"/>
              </a:rPr>
              <a:t>RSA attack- zero-day Adobe Flash exploit</a:t>
            </a:r>
          </a:p>
          <a:p>
            <a:pPr lvl="1">
              <a:buFont typeface="Wingdings" panose="05000000000000000000" pitchFamily="2" charset="2"/>
              <a:buChar char="q"/>
            </a:pPr>
            <a:r>
              <a:rPr lang="en-US" dirty="0">
                <a:solidFill>
                  <a:schemeClr val="bg1"/>
                </a:solidFill>
                <a:latin typeface="Arial" panose="020B0604020202020204" pitchFamily="34" charset="0"/>
                <a:cs typeface="Arial" panose="020B0604020202020204" pitchFamily="34" charset="0"/>
              </a:rPr>
              <a:t>DNC hacks- data breach</a:t>
            </a:r>
          </a:p>
        </p:txBody>
      </p:sp>
      <p:sp>
        <p:nvSpPr>
          <p:cNvPr id="4" name="Content Placeholder 3">
            <a:extLst>
              <a:ext uri="{FF2B5EF4-FFF2-40B4-BE49-F238E27FC236}">
                <a16:creationId xmlns:a16="http://schemas.microsoft.com/office/drawing/2014/main" id="{5CB97DC1-B3F6-FE3F-80A8-692817AF1813}"/>
              </a:ext>
            </a:extLst>
          </p:cNvPr>
          <p:cNvSpPr>
            <a:spLocks noGrp="1"/>
          </p:cNvSpPr>
          <p:nvPr>
            <p:ph sz="half" idx="2"/>
          </p:nvPr>
        </p:nvSpPr>
        <p:spPr>
          <a:xfrm>
            <a:off x="7397262" y="1137138"/>
            <a:ext cx="4794737" cy="5720861"/>
          </a:xfrm>
        </p:spPr>
        <p:txBody>
          <a:bodyPr>
            <a:normAutofit/>
          </a:bodyPr>
          <a:lstStyle/>
          <a:p>
            <a:pPr marL="0" indent="0">
              <a:buNone/>
            </a:pPr>
            <a:r>
              <a:rPr lang="en-US" sz="24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Types</a:t>
            </a:r>
          </a:p>
          <a:p>
            <a:pPr marL="0" indent="0">
              <a:buNone/>
            </a:pPr>
            <a:endParaRPr lang="en-US" sz="105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P</a:t>
            </a: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olymorphic Worms</a:t>
            </a:r>
          </a:p>
          <a:p>
            <a:pPr lvl="1">
              <a:buFont typeface="Wingdings" panose="05000000000000000000" pitchFamily="2" charset="2"/>
              <a:buChar char="q"/>
            </a:pP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Viruses</a:t>
            </a: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T</a:t>
            </a: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rojans</a:t>
            </a:r>
          </a:p>
          <a:p>
            <a:pPr marL="457200" lvl="1" indent="0">
              <a:buNone/>
            </a:pPr>
            <a:endPar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r>
              <a:rPr lang="en-US" sz="2400" b="1" dirty="0">
                <a:solidFill>
                  <a:schemeClr val="bg1"/>
                </a:solidFill>
                <a:latin typeface="Arial" panose="020B0604020202020204" pitchFamily="34" charset="0"/>
                <a:ea typeface="Times New Roman" panose="02020603050405020304" pitchFamily="18" charset="0"/>
                <a:cs typeface="Arial" panose="020B0604020202020204" pitchFamily="34" charset="0"/>
              </a:rPr>
              <a:t>Methods</a:t>
            </a:r>
            <a:r>
              <a:rPr lang="en-US" sz="240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p>
          <a:p>
            <a:pPr marL="0" indent="0">
              <a:buNone/>
            </a:pPr>
            <a:endParaRPr lang="en-US" sz="1050" dirty="0">
              <a:solidFill>
                <a:schemeClr val="bg1"/>
              </a:solidFill>
              <a:latin typeface="Arial" panose="020B0604020202020204" pitchFamily="34" charset="0"/>
              <a:ea typeface="Times New Roman" panose="02020603050405020304" pitchFamily="18" charset="0"/>
              <a:cs typeface="Arial" panose="020B0604020202020204" pitchFamily="34" charset="0"/>
            </a:endParaRP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P</a:t>
            </a: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hishing/spamming (malicious emails) </a:t>
            </a: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E</a:t>
            </a: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mbedding exploits in compromised sites/browsers</a:t>
            </a:r>
          </a:p>
          <a:p>
            <a:pPr lvl="1">
              <a:buFont typeface="Wingdings" panose="05000000000000000000" pitchFamily="2" charset="2"/>
              <a:buChar char="q"/>
            </a:pP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Software/hardware vulnerability hunting</a:t>
            </a:r>
            <a:endParaRPr lang="en-US" dirty="0"/>
          </a:p>
        </p:txBody>
      </p:sp>
    </p:spTree>
    <p:extLst>
      <p:ext uri="{BB962C8B-B14F-4D97-AF65-F5344CB8AC3E}">
        <p14:creationId xmlns:p14="http://schemas.microsoft.com/office/powerpoint/2010/main" val="3654093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0FD8-4A9F-F213-D812-C03485583BC1}"/>
              </a:ext>
            </a:extLst>
          </p:cNvPr>
          <p:cNvSpPr>
            <a:spLocks noGrp="1"/>
          </p:cNvSpPr>
          <p:nvPr>
            <p:ph type="title"/>
          </p:nvPr>
        </p:nvSpPr>
        <p:spPr>
          <a:xfrm>
            <a:off x="0" y="82063"/>
            <a:ext cx="11992708" cy="1031629"/>
          </a:xfrm>
        </p:spPr>
        <p:txBody>
          <a:bodyPr>
            <a:noAutofit/>
          </a:bodyPr>
          <a:lstStyle/>
          <a:p>
            <a:r>
              <a:rPr lang="en-US" sz="5200" b="1" dirty="0">
                <a:solidFill>
                  <a:schemeClr val="bg1"/>
                </a:solidFill>
                <a:latin typeface="Arial" panose="020B0604020202020204" pitchFamily="34" charset="0"/>
                <a:cs typeface="Arial" panose="020B0604020202020204" pitchFamily="34" charset="0"/>
              </a:rPr>
              <a:t>Traditional Cybersecurity Techniques</a:t>
            </a:r>
          </a:p>
        </p:txBody>
      </p:sp>
      <p:sp>
        <p:nvSpPr>
          <p:cNvPr id="3" name="Content Placeholder 2">
            <a:extLst>
              <a:ext uri="{FF2B5EF4-FFF2-40B4-BE49-F238E27FC236}">
                <a16:creationId xmlns:a16="http://schemas.microsoft.com/office/drawing/2014/main" id="{61F68B2A-D273-7C0D-5CC9-D6F7AE9EDE20}"/>
              </a:ext>
            </a:extLst>
          </p:cNvPr>
          <p:cNvSpPr>
            <a:spLocks noGrp="1"/>
          </p:cNvSpPr>
          <p:nvPr>
            <p:ph idx="1"/>
          </p:nvPr>
        </p:nvSpPr>
        <p:spPr>
          <a:xfrm>
            <a:off x="93785" y="1113692"/>
            <a:ext cx="11992708" cy="5662245"/>
          </a:xfrm>
        </p:spPr>
        <p:txBody>
          <a:bodyPr>
            <a:noAutofit/>
          </a:bodyPr>
          <a:lstStyle/>
          <a:p>
            <a:pPr marL="0" indent="0">
              <a:buNone/>
            </a:pPr>
            <a:r>
              <a:rPr lang="en-US" sz="24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Signature-based detection </a:t>
            </a:r>
          </a:p>
          <a:p>
            <a:pPr marL="0" indent="0">
              <a:buNone/>
            </a:pPr>
            <a:endParaRPr lang="en-US" sz="105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lvl="1">
              <a:buFont typeface="Wingdings" panose="05000000000000000000" pitchFamily="2" charset="2"/>
              <a:buChar char="q"/>
            </a:pP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Repository of signatures of known malware/attacks </a:t>
            </a:r>
            <a:endParaRPr lang="en-US" dirty="0">
              <a:solidFill>
                <a:schemeClr val="bg1"/>
              </a:solidFill>
              <a:latin typeface="Arial" panose="020B0604020202020204" pitchFamily="34" charset="0"/>
              <a:ea typeface="Times New Roman" panose="02020603050405020304" pitchFamily="18" charset="0"/>
              <a:cs typeface="Arial" panose="020B0604020202020204" pitchFamily="34" charset="0"/>
            </a:endParaRPr>
          </a:p>
          <a:p>
            <a:pPr lvl="1">
              <a:buFont typeface="Wingdings" panose="05000000000000000000" pitchFamily="2" charset="2"/>
              <a:buChar char="q"/>
            </a:pP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Used for inspecting current programs and activities for malicious code or patterns</a:t>
            </a:r>
            <a:endParaRPr lang="en-US" sz="2000" dirty="0">
              <a:solidFill>
                <a:schemeClr val="bg1"/>
              </a:solidFill>
              <a:latin typeface="Arial" panose="020B0604020202020204" pitchFamily="34" charset="0"/>
              <a:ea typeface="Times New Roman" panose="02020603050405020304" pitchFamily="18" charset="0"/>
              <a:cs typeface="Arial" panose="020B0604020202020204" pitchFamily="34" charset="0"/>
            </a:endParaRPr>
          </a:p>
          <a:p>
            <a:pPr lvl="1">
              <a:buFont typeface="Wingdings" panose="05000000000000000000" pitchFamily="2" charset="2"/>
              <a:buChar char="q"/>
            </a:pPr>
            <a:r>
              <a:rPr lang="en-US" sz="2400" b="1" dirty="0">
                <a:solidFill>
                  <a:schemeClr val="bg1"/>
                </a:solidFill>
                <a:latin typeface="Arial" panose="020B0604020202020204" pitchFamily="34" charset="0"/>
                <a:ea typeface="Times New Roman" panose="02020603050405020304" pitchFamily="18" charset="0"/>
                <a:cs typeface="Arial" panose="020B0604020202020204" pitchFamily="34" charset="0"/>
              </a:rPr>
              <a:t>Challenge</a:t>
            </a:r>
          </a:p>
          <a:p>
            <a:pPr lvl="3">
              <a:buFont typeface="Wingdings" panose="05000000000000000000" pitchFamily="2" charset="2"/>
              <a:buChar char="q"/>
            </a:pPr>
            <a:r>
              <a:rPr lang="en-US" sz="2400" dirty="0">
                <a:solidFill>
                  <a:schemeClr val="bg1"/>
                </a:solidFill>
                <a:latin typeface="Arial" panose="020B0604020202020204" pitchFamily="34" charset="0"/>
                <a:ea typeface="Times New Roman" panose="02020603050405020304" pitchFamily="18" charset="0"/>
                <a:cs typeface="Arial" panose="020B0604020202020204" pitchFamily="34" charset="0"/>
              </a:rPr>
              <a:t>Failure to detect zero-days</a:t>
            </a:r>
          </a:p>
          <a:p>
            <a:pPr lvl="3">
              <a:buFont typeface="Wingdings" panose="05000000000000000000" pitchFamily="2" charset="2"/>
              <a:buChar char="q"/>
            </a:pPr>
            <a:r>
              <a:rPr lang="en-US" sz="2400" dirty="0">
                <a:solidFill>
                  <a:schemeClr val="bg1"/>
                </a:solidFill>
                <a:latin typeface="Arial" panose="020B0604020202020204" pitchFamily="34" charset="0"/>
                <a:ea typeface="Times New Roman" panose="02020603050405020304" pitchFamily="18" charset="0"/>
                <a:cs typeface="Arial" panose="020B0604020202020204" pitchFamily="34" charset="0"/>
              </a:rPr>
              <a:t>F</a:t>
            </a:r>
            <a:r>
              <a:rPr lang="en-US" sz="24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ailure to detect evolving threats: polymorphic and metamorphic malwares</a:t>
            </a:r>
          </a:p>
          <a:p>
            <a:pPr lvl="1">
              <a:buFont typeface="Wingdings" panose="05000000000000000000" pitchFamily="2" charset="2"/>
              <a:buChar char="q"/>
            </a:pPr>
            <a:endPar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r>
              <a:rPr lang="en-US" sz="2400" b="1"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Anomaly-based detection</a:t>
            </a:r>
          </a:p>
          <a:p>
            <a:pPr marL="0" indent="0">
              <a:buNone/>
            </a:pPr>
            <a:endParaRPr lang="en-US" sz="1050" b="1" dirty="0">
              <a:solidFill>
                <a:schemeClr val="bg1"/>
              </a:solidFill>
              <a:latin typeface="Arial" panose="020B0604020202020204" pitchFamily="34" charset="0"/>
              <a:ea typeface="Times New Roman" panose="02020603050405020304" pitchFamily="18" charset="0"/>
              <a:cs typeface="Arial" panose="020B0604020202020204" pitchFamily="34" charset="0"/>
            </a:endParaRP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O</a:t>
            </a: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perates on the established baseline of normal or good behavior and activities</a:t>
            </a:r>
          </a:p>
          <a:p>
            <a:pPr lvl="1">
              <a:buFont typeface="Wingdings" panose="05000000000000000000" pitchFamily="2" charset="2"/>
              <a:buChar char="q"/>
            </a:pPr>
            <a:r>
              <a:rPr lang="en-US" dirty="0">
                <a:solidFill>
                  <a:schemeClr val="bg1"/>
                </a:solidFill>
                <a:latin typeface="Arial" panose="020B0604020202020204" pitchFamily="34" charset="0"/>
                <a:ea typeface="Times New Roman" panose="02020603050405020304" pitchFamily="18" charset="0"/>
                <a:cs typeface="Arial" panose="020B0604020202020204" pitchFamily="34" charset="0"/>
              </a:rPr>
              <a:t>D</a:t>
            </a:r>
            <a:r>
              <a:rPr lang="en-US"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etect patterns of deviations or anomalous activity</a:t>
            </a:r>
          </a:p>
          <a:p>
            <a:pPr lvl="1">
              <a:buFont typeface="Wingdings" panose="05000000000000000000" pitchFamily="2" charset="2"/>
              <a:buChar char="q"/>
            </a:pPr>
            <a:r>
              <a:rPr lang="en-US" sz="2400" b="1" dirty="0">
                <a:solidFill>
                  <a:schemeClr val="bg1"/>
                </a:solidFill>
                <a:latin typeface="Arial" panose="020B0604020202020204" pitchFamily="34" charset="0"/>
                <a:cs typeface="Arial" panose="020B0604020202020204" pitchFamily="34" charset="0"/>
              </a:rPr>
              <a:t>Challenge</a:t>
            </a:r>
          </a:p>
          <a:p>
            <a:pPr lvl="3">
              <a:buFont typeface="Wingdings" panose="05000000000000000000" pitchFamily="2" charset="2"/>
              <a:buChar char="q"/>
            </a:pPr>
            <a:r>
              <a:rPr lang="en-US" sz="24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Susceptibility to high false alarm rate</a:t>
            </a:r>
            <a:endParaRPr lang="en-US" sz="24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7587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colorTemperature colorTemp="7333"/>
                    </a14:imgEffect>
                    <a14:imgEffect>
                      <a14:saturation sat="63000"/>
                    </a14:imgEffect>
                    <a14:imgEffect>
                      <a14:brightnessContrast bright="-52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EE8A-599F-FBC7-E863-66FCA7C4AF71}"/>
              </a:ext>
            </a:extLst>
          </p:cNvPr>
          <p:cNvSpPr>
            <a:spLocks noGrp="1"/>
          </p:cNvSpPr>
          <p:nvPr>
            <p:ph type="title"/>
          </p:nvPr>
        </p:nvSpPr>
        <p:spPr>
          <a:xfrm>
            <a:off x="-1" y="23446"/>
            <a:ext cx="12192000" cy="2145323"/>
          </a:xfrm>
        </p:spPr>
        <p:txBody>
          <a:bodyPr>
            <a:normAutofit fontScale="90000"/>
          </a:bodyPr>
          <a:lstStyle/>
          <a:p>
            <a:pPr>
              <a:lnSpc>
                <a:spcPct val="100000"/>
              </a:lnSpc>
            </a:pPr>
            <a:r>
              <a:rPr lang="en-US" sz="7300" b="1" dirty="0">
                <a:solidFill>
                  <a:schemeClr val="bg1"/>
                </a:solidFill>
                <a:latin typeface="Arial" panose="020B0604020202020204" pitchFamily="34" charset="0"/>
                <a:cs typeface="Arial" panose="020B0604020202020204" pitchFamily="34" charset="0"/>
              </a:rPr>
              <a:t>Proposed Strategy</a:t>
            </a:r>
            <a:br>
              <a:rPr lang="en-US" sz="7300" b="1" dirty="0">
                <a:solidFill>
                  <a:schemeClr val="bg1"/>
                </a:solidFill>
                <a:latin typeface="Arial" panose="020B0604020202020204" pitchFamily="34" charset="0"/>
                <a:cs typeface="Arial" panose="020B0604020202020204" pitchFamily="34" charset="0"/>
              </a:rPr>
            </a:br>
            <a:br>
              <a:rPr lang="en-US" b="1" dirty="0">
                <a:solidFill>
                  <a:schemeClr val="bg1"/>
                </a:solidFill>
                <a:latin typeface="Arial" panose="020B0604020202020204" pitchFamily="34" charset="0"/>
                <a:cs typeface="Arial" panose="020B0604020202020204" pitchFamily="34" charset="0"/>
              </a:rPr>
            </a:br>
            <a:r>
              <a:rPr lang="en-US" sz="20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AI-based framework combining supervised and unsupervised Machine learning in addition to traditional cybersecurity practices</a:t>
            </a:r>
            <a:endParaRPr lang="en-US" b="1" dirty="0">
              <a:solidFill>
                <a:schemeClr val="bg1"/>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13BAE00-A9E7-5C4C-6EE5-0C4A2E497A16}"/>
              </a:ext>
            </a:extLst>
          </p:cNvPr>
          <p:cNvSpPr>
            <a:spLocks noGrp="1"/>
          </p:cNvSpPr>
          <p:nvPr>
            <p:ph sz="half" idx="1"/>
          </p:nvPr>
        </p:nvSpPr>
        <p:spPr>
          <a:xfrm>
            <a:off x="-1" y="2401453"/>
            <a:ext cx="5931878" cy="4327593"/>
          </a:xfrm>
        </p:spPr>
        <p:txBody>
          <a:bodyPr>
            <a:normAutofit fontScale="85000" lnSpcReduction="20000"/>
          </a:bodyPr>
          <a:lstStyle/>
          <a:p>
            <a:pPr marL="0" indent="0">
              <a:buNone/>
            </a:pPr>
            <a:r>
              <a:rPr lang="en-US" sz="2100" b="1" dirty="0">
                <a:solidFill>
                  <a:schemeClr val="bg1"/>
                </a:solidFill>
                <a:latin typeface="Arial" panose="020B0604020202020204" pitchFamily="34" charset="0"/>
                <a:cs typeface="Arial" panose="020B0604020202020204" pitchFamily="34" charset="0"/>
              </a:rPr>
              <a:t>Supervised Machine Learning</a:t>
            </a:r>
          </a:p>
          <a:p>
            <a:pPr marL="0" indent="0">
              <a:buNone/>
            </a:pPr>
            <a:endParaRPr lang="en-US" sz="2100" b="1" dirty="0">
              <a:solidFill>
                <a:schemeClr val="bg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2100" dirty="0">
                <a:solidFill>
                  <a:schemeClr val="bg1"/>
                </a:solidFill>
                <a:latin typeface="Arial" panose="020B0604020202020204" pitchFamily="34" charset="0"/>
                <a:cs typeface="Arial" panose="020B0604020202020204" pitchFamily="34" charset="0"/>
              </a:rPr>
              <a:t>Rapidly analyze </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large volumes of data</a:t>
            </a:r>
          </a:p>
          <a:p>
            <a:pPr marL="457200" lvl="1" indent="0">
              <a:buNone/>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generated in system</a:t>
            </a:r>
          </a:p>
          <a:p>
            <a:pPr lvl="1">
              <a:buFont typeface="Wingdings" panose="05000000000000000000" pitchFamily="2" charset="2"/>
              <a:buChar char="q"/>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Models train and learn from their own</a:t>
            </a:r>
          </a:p>
          <a:p>
            <a:pPr marL="457200" lvl="1" indent="0">
              <a:buNone/>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evolving sample sets</a:t>
            </a:r>
          </a:p>
          <a:p>
            <a:pPr lvl="1">
              <a:buFont typeface="Wingdings" panose="05000000000000000000" pitchFamily="2" charset="2"/>
              <a:buChar char="q"/>
            </a:pPr>
            <a:r>
              <a:rPr lang="en-US" sz="2100" dirty="0">
                <a:solidFill>
                  <a:schemeClr val="bg1"/>
                </a:solidFill>
                <a:latin typeface="Arial" panose="020B0604020202020204" pitchFamily="34" charset="0"/>
                <a:ea typeface="Times New Roman" panose="02020603050405020304" pitchFamily="18" charset="0"/>
                <a:cs typeface="Arial" panose="020B0604020202020204" pitchFamily="34" charset="0"/>
              </a:rPr>
              <a:t>A</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utomating tasks: threat detection,</a:t>
            </a:r>
          </a:p>
          <a:p>
            <a:pPr marL="457200" lvl="1" indent="0">
              <a:buNone/>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response, and classifying new threat patterns</a:t>
            </a:r>
          </a:p>
          <a:p>
            <a:pPr lvl="1">
              <a:buFont typeface="Wingdings" panose="05000000000000000000" pitchFamily="2" charset="2"/>
              <a:buChar char="q"/>
            </a:pPr>
            <a:r>
              <a:rPr lang="en-US" sz="2100" dirty="0">
                <a:solidFill>
                  <a:schemeClr val="bg1"/>
                </a:solidFill>
                <a:latin typeface="Arial" panose="020B0604020202020204" pitchFamily="34" charset="0"/>
                <a:cs typeface="Arial" panose="020B0604020202020204" pitchFamily="34" charset="0"/>
              </a:rPr>
              <a:t>Powerful </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computational analysis improves accuracy of threat detection</a:t>
            </a:r>
          </a:p>
          <a:p>
            <a:pPr marL="457200" lvl="1" indent="0">
              <a:buNone/>
            </a:pPr>
            <a:endPar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a:buFont typeface="Wingdings" panose="05000000000000000000" pitchFamily="2" charset="2"/>
              <a:buChar char="q"/>
            </a:pPr>
            <a:r>
              <a:rPr lang="en-US" sz="2100" b="1" dirty="0">
                <a:solidFill>
                  <a:schemeClr val="bg1"/>
                </a:solidFill>
                <a:latin typeface="Arial" panose="020B0604020202020204" pitchFamily="34" charset="0"/>
                <a:cs typeface="Arial" panose="020B0604020202020204" pitchFamily="34" charset="0"/>
              </a:rPr>
              <a:t>Challenge (Supervised)</a:t>
            </a:r>
          </a:p>
          <a:p>
            <a:pPr marL="0" indent="0">
              <a:buNone/>
            </a:pPr>
            <a:endParaRPr lang="en-US" sz="2100" b="1" dirty="0">
              <a:solidFill>
                <a:schemeClr val="bg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2100" dirty="0">
                <a:solidFill>
                  <a:schemeClr val="bg1"/>
                </a:solidFill>
                <a:latin typeface="Arial" panose="020B0604020202020204" pitchFamily="34" charset="0"/>
                <a:ea typeface="Times New Roman" panose="02020603050405020304" pitchFamily="18" charset="0"/>
                <a:cs typeface="Arial" panose="020B0604020202020204" pitchFamily="34" charset="0"/>
              </a:rPr>
              <a:t>D</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etecting novel malware</a:t>
            </a:r>
          </a:p>
          <a:p>
            <a:pPr lvl="1">
              <a:buFont typeface="Wingdings" panose="05000000000000000000" pitchFamily="2" charset="2"/>
              <a:buChar char="q"/>
            </a:pPr>
            <a:r>
              <a:rPr lang="en-US" sz="2100" dirty="0">
                <a:solidFill>
                  <a:schemeClr val="bg1"/>
                </a:solidFill>
                <a:latin typeface="Arial" panose="020B0604020202020204" pitchFamily="34" charset="0"/>
                <a:ea typeface="Times New Roman" panose="02020603050405020304" pitchFamily="18" charset="0"/>
                <a:cs typeface="Arial" panose="020B0604020202020204" pitchFamily="34" charset="0"/>
              </a:rPr>
              <a:t>B</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uilding precise classification models</a:t>
            </a:r>
          </a:p>
          <a:p>
            <a:pPr lvl="1">
              <a:buFont typeface="Wingdings" panose="05000000000000000000" pitchFamily="2" charset="2"/>
              <a:buChar char="q"/>
            </a:pPr>
            <a:endPar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endParaRPr lang="en-US" sz="2000" dirty="0"/>
          </a:p>
        </p:txBody>
      </p:sp>
      <p:sp>
        <p:nvSpPr>
          <p:cNvPr id="7" name="Content Placeholder 6">
            <a:extLst>
              <a:ext uri="{FF2B5EF4-FFF2-40B4-BE49-F238E27FC236}">
                <a16:creationId xmlns:a16="http://schemas.microsoft.com/office/drawing/2014/main" id="{BA12AF33-DCE7-7239-DE7A-EFACC638AE86}"/>
              </a:ext>
            </a:extLst>
          </p:cNvPr>
          <p:cNvSpPr>
            <a:spLocks noGrp="1"/>
          </p:cNvSpPr>
          <p:nvPr>
            <p:ph sz="half" idx="2"/>
          </p:nvPr>
        </p:nvSpPr>
        <p:spPr>
          <a:xfrm>
            <a:off x="5931877" y="2401454"/>
            <a:ext cx="6154616" cy="4327591"/>
          </a:xfrm>
        </p:spPr>
        <p:txBody>
          <a:bodyPr>
            <a:normAutofit fontScale="85000" lnSpcReduction="20000"/>
          </a:bodyPr>
          <a:lstStyle/>
          <a:p>
            <a:pPr marL="0" indent="0">
              <a:buNone/>
            </a:pPr>
            <a:r>
              <a:rPr lang="en-US" sz="2100" b="1" dirty="0">
                <a:solidFill>
                  <a:schemeClr val="bg1"/>
                </a:solidFill>
                <a:latin typeface="Arial" panose="020B0604020202020204" pitchFamily="34" charset="0"/>
                <a:cs typeface="Arial" panose="020B0604020202020204" pitchFamily="34" charset="0"/>
              </a:rPr>
              <a:t>Unsupervised Machine Learning</a:t>
            </a:r>
          </a:p>
          <a:p>
            <a:pPr marL="0" indent="0">
              <a:buNone/>
            </a:pPr>
            <a:endParaRPr lang="en-US" sz="1200" b="1" dirty="0">
              <a:solidFill>
                <a:schemeClr val="bg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2100" dirty="0">
                <a:solidFill>
                  <a:schemeClr val="bg1"/>
                </a:solidFill>
                <a:latin typeface="Arial" panose="020B0604020202020204" pitchFamily="34" charset="0"/>
                <a:ea typeface="Times New Roman" panose="02020603050405020304" pitchFamily="18" charset="0"/>
                <a:cs typeface="Arial" panose="020B0604020202020204" pitchFamily="34" charset="0"/>
              </a:rPr>
              <a:t>U</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tilizes unlabeled data sets, without the</a:t>
            </a:r>
          </a:p>
          <a:p>
            <a:pPr marL="457200" lvl="1" indent="0">
              <a:buNone/>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need for human intervention to discover:</a:t>
            </a:r>
          </a:p>
          <a:p>
            <a:pPr lvl="2">
              <a:buFont typeface="Courier New" panose="02070309020205020404" pitchFamily="49" charset="0"/>
              <a:buChar char="o"/>
            </a:pPr>
            <a:r>
              <a:rPr lang="en-US" sz="2100" dirty="0">
                <a:solidFill>
                  <a:schemeClr val="bg1"/>
                </a:solidFill>
                <a:latin typeface="Arial" panose="020B0604020202020204" pitchFamily="34" charset="0"/>
                <a:ea typeface="Times New Roman" panose="02020603050405020304" pitchFamily="18" charset="0"/>
                <a:cs typeface="Arial" panose="020B0604020202020204" pitchFamily="34" charset="0"/>
              </a:rPr>
              <a:t>U</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nknown relationships</a:t>
            </a:r>
          </a:p>
          <a:p>
            <a:pPr lvl="2">
              <a:buFont typeface="Courier New" panose="02070309020205020404" pitchFamily="49" charset="0"/>
              <a:buChar char="o"/>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Trends</a:t>
            </a:r>
          </a:p>
          <a:p>
            <a:pPr lvl="2">
              <a:buFont typeface="Courier New" panose="02070309020205020404" pitchFamily="49" charset="0"/>
              <a:buChar char="o"/>
            </a:pPr>
            <a:r>
              <a:rPr lang="en-US" sz="2100" dirty="0">
                <a:solidFill>
                  <a:schemeClr val="bg1"/>
                </a:solidFill>
                <a:latin typeface="Arial" panose="020B0604020202020204" pitchFamily="34" charset="0"/>
                <a:ea typeface="Times New Roman" panose="02020603050405020304" pitchFamily="18" charset="0"/>
                <a:cs typeface="Arial" panose="020B0604020202020204" pitchFamily="34" charset="0"/>
              </a:rPr>
              <a:t>Key </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patterns within data</a:t>
            </a:r>
          </a:p>
          <a:p>
            <a:pPr marL="914400" lvl="2" indent="0">
              <a:buNone/>
            </a:pPr>
            <a:endPar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endParaRPr>
          </a:p>
          <a:p>
            <a:pPr lvl="1">
              <a:buFont typeface="Wingdings" panose="05000000000000000000" pitchFamily="2" charset="2"/>
              <a:buChar char="q"/>
            </a:pPr>
            <a:r>
              <a:rPr lang="en-US" sz="2100" dirty="0">
                <a:solidFill>
                  <a:schemeClr val="bg1"/>
                </a:solidFill>
                <a:latin typeface="Arial" panose="020B0604020202020204" pitchFamily="34" charset="0"/>
                <a:cs typeface="Arial" panose="020B0604020202020204" pitchFamily="34" charset="0"/>
              </a:rPr>
              <a:t>Capable of revealing previously unknown insights and making predictions</a:t>
            </a:r>
          </a:p>
          <a:p>
            <a:pPr marL="457200" lvl="1" indent="0">
              <a:buNone/>
            </a:pPr>
            <a:endParaRPr lang="en-US" sz="2100" dirty="0">
              <a:solidFill>
                <a:schemeClr val="bg1"/>
              </a:solidFill>
              <a:latin typeface="Arial" panose="020B0604020202020204" pitchFamily="34" charset="0"/>
              <a:cs typeface="Arial" panose="020B0604020202020204" pitchFamily="34" charset="0"/>
            </a:endParaRPr>
          </a:p>
          <a:p>
            <a:pPr lvl="1">
              <a:buFont typeface="Wingdings" panose="05000000000000000000" pitchFamily="2" charset="2"/>
              <a:buChar char="q"/>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 Generates vast amounts of probability- 	based calculations to:</a:t>
            </a:r>
          </a:p>
          <a:p>
            <a:pPr lvl="2">
              <a:buFont typeface="Courier New" panose="02070309020205020404" pitchFamily="49" charset="0"/>
              <a:buChar char="o"/>
            </a:pPr>
            <a:r>
              <a:rPr lang="en-US" sz="2100" dirty="0">
                <a:solidFill>
                  <a:schemeClr val="bg1"/>
                </a:solidFill>
                <a:latin typeface="Arial" panose="020B0604020202020204" pitchFamily="34" charset="0"/>
                <a:ea typeface="Times New Roman" panose="02020603050405020304" pitchFamily="18" charset="0"/>
                <a:cs typeface="Arial" panose="020B0604020202020204" pitchFamily="34" charset="0"/>
              </a:rPr>
              <a:t>D</a:t>
            </a: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etect new threat patterns and novel malware</a:t>
            </a:r>
          </a:p>
          <a:p>
            <a:pPr lvl="2">
              <a:buFont typeface="Courier New" panose="02070309020205020404" pitchFamily="49" charset="0"/>
              <a:buChar char="o"/>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Establish normal behaviors and deviations</a:t>
            </a:r>
          </a:p>
          <a:p>
            <a:pPr lvl="2">
              <a:buFont typeface="Courier New" panose="02070309020205020404" pitchFamily="49" charset="0"/>
              <a:buChar char="o"/>
            </a:pPr>
            <a:r>
              <a:rPr lang="en-US" sz="2100" dirty="0">
                <a:solidFill>
                  <a:schemeClr val="bg1"/>
                </a:solidFill>
                <a:effectLst/>
                <a:latin typeface="Arial" panose="020B0604020202020204" pitchFamily="34" charset="0"/>
                <a:ea typeface="Times New Roman" panose="02020603050405020304" pitchFamily="18" charset="0"/>
                <a:cs typeface="Arial" panose="020B0604020202020204" pitchFamily="34" charset="0"/>
              </a:rPr>
              <a:t>Detect unseen threats or zero-days</a:t>
            </a:r>
            <a:r>
              <a:rPr lang="en-US" sz="2100" dirty="0">
                <a:solidFill>
                  <a:schemeClr val="bg1"/>
                </a:solidFill>
                <a:latin typeface="Arial" panose="020B0604020202020204" pitchFamily="34" charset="0"/>
                <a:ea typeface="Times New Roman" panose="02020603050405020304" pitchFamily="18" charset="0"/>
                <a:cs typeface="Arial" panose="020B0604020202020204" pitchFamily="34" charset="0"/>
              </a:rPr>
              <a:t> (without relying solely on past threat information)</a:t>
            </a:r>
            <a:endParaRPr lang="en-US" sz="2100" dirty="0">
              <a:solidFill>
                <a:schemeClr val="bg1"/>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459927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67A033-2EFC-C53A-6F40-157DA859B4E2}"/>
              </a:ext>
            </a:extLst>
          </p:cNvPr>
          <p:cNvSpPr>
            <a:spLocks noGrp="1"/>
          </p:cNvSpPr>
          <p:nvPr>
            <p:ph sz="half" idx="1"/>
          </p:nvPr>
        </p:nvSpPr>
        <p:spPr>
          <a:xfrm>
            <a:off x="0" y="673100"/>
            <a:ext cx="6324600" cy="5791200"/>
          </a:xfrm>
        </p:spPr>
        <p:txBody>
          <a:bodyPr>
            <a:noAutofit/>
          </a:bodyPr>
          <a:lstStyle/>
          <a:p>
            <a:pPr marL="0" indent="0">
              <a:buNone/>
            </a:pPr>
            <a:endParaRPr lang="en-US" sz="2000" dirty="0">
              <a:solidFill>
                <a:schemeClr val="bg1"/>
              </a:solidFill>
            </a:endParaRPr>
          </a:p>
          <a:p>
            <a:pPr marL="0" indent="0">
              <a:buNone/>
            </a:pPr>
            <a:r>
              <a:rPr lang="en-US" sz="2000" dirty="0">
                <a:solidFill>
                  <a:schemeClr val="bg1"/>
                </a:solidFill>
              </a:rPr>
              <a:t>1. **Overview of the Two-Level Hybrid Learning Method**:</a:t>
            </a:r>
          </a:p>
          <a:p>
            <a:r>
              <a:rPr lang="en-US" sz="2000" dirty="0">
                <a:solidFill>
                  <a:schemeClr val="bg1"/>
                </a:solidFill>
              </a:rPr>
              <a:t>   This approach is designed to tackle the challenge of detecting zero-day malware, which refers to previously unseen malware variants that evade traditional signature-based detection methods. It operates on two levels: the macro-level classifier and the micro-level classifiers.</a:t>
            </a:r>
          </a:p>
          <a:p>
            <a:pPr marL="0" indent="0">
              <a:buNone/>
            </a:pPr>
            <a:r>
              <a:rPr lang="en-US" sz="2000" dirty="0">
                <a:solidFill>
                  <a:schemeClr val="bg1"/>
                </a:solidFill>
              </a:rPr>
              <a:t>2. **Macro-level Classifier (Random Forest)**:</a:t>
            </a:r>
          </a:p>
          <a:p>
            <a:r>
              <a:rPr lang="en-US" sz="2000" dirty="0">
                <a:solidFill>
                  <a:schemeClr val="bg1"/>
                </a:solidFill>
              </a:rPr>
              <a:t>   At the macro-level, a Random Forest algorithm is employed to make high-level decisions regarding the nature of incoming data flows. The role of this classifier is pivotal as it serves as the first line of defense in determining whether a given flow is malicious or benign. Random Forest is chosen for its robustness and ability to handle large datasets with high-dimensional feature spaces. By analyzing various features extracted from the data, the macro-level classifier aims to provide an initial assessment of the threat level associated with the flow.</a:t>
            </a:r>
          </a:p>
        </p:txBody>
      </p:sp>
      <p:sp>
        <p:nvSpPr>
          <p:cNvPr id="4" name="Content Placeholder 3">
            <a:extLst>
              <a:ext uri="{FF2B5EF4-FFF2-40B4-BE49-F238E27FC236}">
                <a16:creationId xmlns:a16="http://schemas.microsoft.com/office/drawing/2014/main" id="{3EB20A97-685D-C106-1991-7194896406E7}"/>
              </a:ext>
            </a:extLst>
          </p:cNvPr>
          <p:cNvSpPr>
            <a:spLocks noGrp="1"/>
          </p:cNvSpPr>
          <p:nvPr>
            <p:ph sz="half" idx="2"/>
          </p:nvPr>
        </p:nvSpPr>
        <p:spPr>
          <a:xfrm>
            <a:off x="6235700" y="1203327"/>
            <a:ext cx="5867400" cy="5654673"/>
          </a:xfrm>
        </p:spPr>
        <p:txBody>
          <a:bodyPr>
            <a:noAutofit/>
          </a:bodyPr>
          <a:lstStyle/>
          <a:p>
            <a:pPr marL="0" indent="0">
              <a:buNone/>
            </a:pPr>
            <a:r>
              <a:rPr lang="en-US" sz="2000" dirty="0">
                <a:solidFill>
                  <a:schemeClr val="bg1"/>
                </a:solidFill>
              </a:rPr>
              <a:t>3. **Micro-level Classifiers (Single-class SVMs)**:</a:t>
            </a:r>
          </a:p>
          <a:p>
            <a:pPr marL="0" indent="0">
              <a:buNone/>
            </a:pPr>
            <a:endParaRPr lang="en-US" sz="2000" dirty="0">
              <a:solidFill>
                <a:schemeClr val="bg1"/>
              </a:solidFill>
            </a:endParaRPr>
          </a:p>
          <a:p>
            <a:r>
              <a:rPr lang="en-US" sz="2000" dirty="0">
                <a:solidFill>
                  <a:schemeClr val="bg1"/>
                </a:solidFill>
              </a:rPr>
              <a:t>   In conjunction with the macro-level classifier, the micro-level classifiers, consisting of multiple Single-class Support Vector Machines (SVMs), play a crucial role in enhancing the detection capability, especially for identifying specific classes of malware. Each Single-class SVM model is specialized in categorizing instances belonging to a particular malware class. Unlike traditional SVMs that are trained on binary classification tasks, Single-class SVMs are trained on only one class of data, which in this context would be instances of a particular malware type. This specialization enables the micro-level classifiers to detect subtle patterns and characteristics associated with different malware families or variants, thereby improving the overall accuracy and reliability of the detection system.</a:t>
            </a:r>
          </a:p>
          <a:p>
            <a:pPr marL="0" indent="0">
              <a:buNone/>
            </a:pPr>
            <a:endParaRPr lang="en-US" sz="2000" dirty="0">
              <a:solidFill>
                <a:schemeClr val="bg1"/>
              </a:solidFill>
            </a:endParaRPr>
          </a:p>
        </p:txBody>
      </p:sp>
      <p:sp>
        <p:nvSpPr>
          <p:cNvPr id="6" name="Title 5">
            <a:extLst>
              <a:ext uri="{FF2B5EF4-FFF2-40B4-BE49-F238E27FC236}">
                <a16:creationId xmlns:a16="http://schemas.microsoft.com/office/drawing/2014/main" id="{7C784F86-CEFE-A35B-E4D6-2C1BDF983377}"/>
              </a:ext>
            </a:extLst>
          </p:cNvPr>
          <p:cNvSpPr>
            <a:spLocks noGrp="1"/>
          </p:cNvSpPr>
          <p:nvPr>
            <p:ph type="title"/>
          </p:nvPr>
        </p:nvSpPr>
        <p:spPr>
          <a:xfrm>
            <a:off x="0" y="-122236"/>
            <a:ext cx="11480800" cy="1325563"/>
          </a:xfrm>
        </p:spPr>
        <p:txBody>
          <a:bodyPr>
            <a:noAutofit/>
          </a:bodyPr>
          <a:lstStyle/>
          <a:p>
            <a:r>
              <a:rPr lang="en-US" sz="5400" b="1" dirty="0">
                <a:solidFill>
                  <a:schemeClr val="bg1"/>
                </a:solidFill>
                <a:latin typeface="Arial" panose="020B0604020202020204" pitchFamily="34" charset="0"/>
                <a:cs typeface="Arial" panose="020B0604020202020204" pitchFamily="34" charset="0"/>
              </a:rPr>
              <a:t>HYBRID LEARNING APPROACH</a:t>
            </a:r>
          </a:p>
        </p:txBody>
      </p:sp>
    </p:spTree>
    <p:extLst>
      <p:ext uri="{BB962C8B-B14F-4D97-AF65-F5344CB8AC3E}">
        <p14:creationId xmlns:p14="http://schemas.microsoft.com/office/powerpoint/2010/main" val="230069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8502F-5741-AE72-0A39-019FC7E83AB1}"/>
              </a:ext>
            </a:extLst>
          </p:cNvPr>
          <p:cNvSpPr>
            <a:spLocks noGrp="1"/>
          </p:cNvSpPr>
          <p:nvPr>
            <p:ph type="title"/>
          </p:nvPr>
        </p:nvSpPr>
        <p:spPr>
          <a:xfrm>
            <a:off x="570016" y="1698229"/>
            <a:ext cx="10616540" cy="2873771"/>
          </a:xfrm>
        </p:spPr>
        <p:txBody>
          <a:bodyPr>
            <a:noAutofit/>
          </a:bodyPr>
          <a:lstStyle/>
          <a:p>
            <a:pPr algn="ctr"/>
            <a:r>
              <a:rPr lang="en-US" sz="8800" b="1" dirty="0">
                <a:solidFill>
                  <a:schemeClr val="bg1"/>
                </a:solidFill>
                <a:latin typeface="Arial" panose="020B0604020202020204" pitchFamily="34" charset="0"/>
                <a:cs typeface="Arial" panose="020B0604020202020204" pitchFamily="34" charset="0"/>
              </a:rPr>
              <a:t>SINGLE </a:t>
            </a:r>
            <a:br>
              <a:rPr lang="en-US" sz="8800" b="1" dirty="0">
                <a:solidFill>
                  <a:schemeClr val="bg1"/>
                </a:solidFill>
                <a:latin typeface="Arial" panose="020B0604020202020204" pitchFamily="34" charset="0"/>
                <a:cs typeface="Arial" panose="020B0604020202020204" pitchFamily="34" charset="0"/>
              </a:rPr>
            </a:br>
            <a:r>
              <a:rPr lang="en-US" sz="8800" b="1" dirty="0">
                <a:solidFill>
                  <a:schemeClr val="bg1"/>
                </a:solidFill>
                <a:latin typeface="Arial" panose="020B0604020202020204" pitchFamily="34" charset="0"/>
                <a:cs typeface="Arial" panose="020B0604020202020204" pitchFamily="34" charset="0"/>
              </a:rPr>
              <a:t>CLASS</a:t>
            </a:r>
            <a:br>
              <a:rPr lang="en-US" sz="8800" b="1" dirty="0">
                <a:solidFill>
                  <a:schemeClr val="bg1"/>
                </a:solidFill>
                <a:latin typeface="Arial" panose="020B0604020202020204" pitchFamily="34" charset="0"/>
                <a:cs typeface="Arial" panose="020B0604020202020204" pitchFamily="34" charset="0"/>
              </a:rPr>
            </a:br>
            <a:r>
              <a:rPr lang="en-US" sz="8800" b="1" dirty="0">
                <a:solidFill>
                  <a:schemeClr val="bg1"/>
                </a:solidFill>
                <a:latin typeface="Arial" panose="020B0604020202020204" pitchFamily="34" charset="0"/>
                <a:cs typeface="Arial" panose="020B0604020202020204" pitchFamily="34" charset="0"/>
              </a:rPr>
              <a:t> SVM</a:t>
            </a:r>
          </a:p>
        </p:txBody>
      </p:sp>
      <p:sp>
        <p:nvSpPr>
          <p:cNvPr id="3" name="Content Placeholder 2">
            <a:extLst>
              <a:ext uri="{FF2B5EF4-FFF2-40B4-BE49-F238E27FC236}">
                <a16:creationId xmlns:a16="http://schemas.microsoft.com/office/drawing/2014/main" id="{FCB352D8-875B-EE16-F1B1-A727BC31E449}"/>
              </a:ext>
            </a:extLst>
          </p:cNvPr>
          <p:cNvSpPr>
            <a:spLocks noGrp="1"/>
          </p:cNvSpPr>
          <p:nvPr>
            <p:ph sz="half" idx="1"/>
          </p:nvPr>
        </p:nvSpPr>
        <p:spPr>
          <a:xfrm>
            <a:off x="95002" y="5486400"/>
            <a:ext cx="12096997" cy="1104900"/>
          </a:xfrm>
        </p:spPr>
        <p:txBody>
          <a:bodyPr>
            <a:noAutofit/>
          </a:bodyPr>
          <a:lstStyle/>
          <a:p>
            <a:pPr marL="0" indent="0" algn="l">
              <a:buNone/>
            </a:pPr>
            <a:r>
              <a:rPr lang="en-US" sz="2200" b="0" i="0" dirty="0">
                <a:solidFill>
                  <a:schemeClr val="bg1"/>
                </a:solidFill>
                <a:effectLst/>
                <a:latin typeface="Söhne"/>
              </a:rPr>
              <a:t>Single-class Support Vector Machines (SVMs) are a variant of traditional SVMs designed for anomaly detection tasks, where the objective is to identify instances belonging to a specific class. Here's a detailed explanation:</a:t>
            </a:r>
          </a:p>
        </p:txBody>
      </p:sp>
    </p:spTree>
    <p:extLst>
      <p:ext uri="{BB962C8B-B14F-4D97-AF65-F5344CB8AC3E}">
        <p14:creationId xmlns:p14="http://schemas.microsoft.com/office/powerpoint/2010/main" val="2194682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7C3FF8-8648-79B4-45DE-09CF47572FF3}"/>
              </a:ext>
            </a:extLst>
          </p:cNvPr>
          <p:cNvSpPr txBox="1"/>
          <p:nvPr/>
        </p:nvSpPr>
        <p:spPr>
          <a:xfrm>
            <a:off x="176150" y="117693"/>
            <a:ext cx="11602192" cy="6524863"/>
          </a:xfrm>
          <a:prstGeom prst="rect">
            <a:avLst/>
          </a:prstGeom>
          <a:noFill/>
        </p:spPr>
        <p:txBody>
          <a:bodyPr wrap="square">
            <a:spAutoFit/>
          </a:bodyPr>
          <a:lstStyle/>
          <a:p>
            <a:pPr algn="l">
              <a:buFont typeface="Arial" panose="020B0604020202020204" pitchFamily="34" charset="0"/>
              <a:buChar char="•"/>
            </a:pPr>
            <a:r>
              <a:rPr lang="en-US" sz="2200" b="1" i="0" dirty="0">
                <a:solidFill>
                  <a:schemeClr val="bg1"/>
                </a:solidFill>
                <a:effectLst/>
                <a:latin typeface="Söhne"/>
              </a:rPr>
              <a:t>Explanation of Single-class SVMs:</a:t>
            </a:r>
            <a:r>
              <a:rPr lang="en-US" sz="2200" b="0" i="0" dirty="0">
                <a:solidFill>
                  <a:schemeClr val="bg1"/>
                </a:solidFill>
                <a:effectLst/>
                <a:latin typeface="Söhne"/>
              </a:rPr>
              <a:t> Single-class SVMs are trained on data from a single class, aiming to construct a hypersphere (or hyperplane in high-dimensional spaces) around the majority of the data points representing that class. This hypersphere encloses the normal instances while maximizing the margin from the boundary to capture outliers or anomalies.</a:t>
            </a:r>
          </a:p>
          <a:p>
            <a:pPr algn="l"/>
            <a:endParaRPr lang="en-US" sz="2200" b="0" i="0" dirty="0">
              <a:solidFill>
                <a:schemeClr val="bg1"/>
              </a:solidFill>
              <a:effectLst/>
              <a:latin typeface="Söhne"/>
            </a:endParaRPr>
          </a:p>
          <a:p>
            <a:pPr algn="l"/>
            <a:endParaRPr lang="en-US" sz="2200" b="0" i="0" dirty="0">
              <a:solidFill>
                <a:schemeClr val="bg1"/>
              </a:solidFill>
              <a:effectLst/>
              <a:latin typeface="Söhne"/>
            </a:endParaRPr>
          </a:p>
          <a:p>
            <a:pPr algn="l">
              <a:buFont typeface="Arial" panose="020B0604020202020204" pitchFamily="34" charset="0"/>
              <a:buChar char="•"/>
            </a:pPr>
            <a:r>
              <a:rPr lang="en-US" sz="2200" b="1" i="0" dirty="0">
                <a:solidFill>
                  <a:schemeClr val="bg1"/>
                </a:solidFill>
                <a:effectLst/>
                <a:latin typeface="Söhne"/>
              </a:rPr>
              <a:t>Construction of Hyperspheres:</a:t>
            </a:r>
            <a:r>
              <a:rPr lang="en-US" sz="2200" b="0" i="0" dirty="0">
                <a:solidFill>
                  <a:schemeClr val="bg1"/>
                </a:solidFill>
                <a:effectLst/>
                <a:latin typeface="Söhne"/>
              </a:rPr>
              <a:t> To construct hyperspheres for each malware class, Single-class SVMs iteratively optimize an objective function. This function aims to find the smallest hypersphere enclosing a predefined proportion of training instances (e.g., 95% of the instances). By adjusting parameters during training, the SVM seeks to minimize the radius of the hypersphere while maintaining the containment of the majority of the class instances.</a:t>
            </a:r>
          </a:p>
          <a:p>
            <a:pPr algn="l"/>
            <a:endParaRPr lang="en-US" sz="2200" b="0" i="0" dirty="0">
              <a:solidFill>
                <a:schemeClr val="bg1"/>
              </a:solidFill>
              <a:effectLst/>
              <a:latin typeface="Söhne"/>
            </a:endParaRPr>
          </a:p>
          <a:p>
            <a:pPr algn="l"/>
            <a:endParaRPr lang="en-US" sz="2200" b="0" i="0" dirty="0">
              <a:solidFill>
                <a:schemeClr val="bg1"/>
              </a:solidFill>
              <a:effectLst/>
              <a:latin typeface="Söhne"/>
            </a:endParaRPr>
          </a:p>
          <a:p>
            <a:pPr algn="l">
              <a:buFont typeface="Arial" panose="020B0604020202020204" pitchFamily="34" charset="0"/>
              <a:buChar char="•"/>
            </a:pPr>
            <a:r>
              <a:rPr lang="en-US" sz="2200" b="1" i="0" dirty="0">
                <a:solidFill>
                  <a:schemeClr val="bg1"/>
                </a:solidFill>
                <a:effectLst/>
                <a:latin typeface="Söhne"/>
              </a:rPr>
              <a:t>Zero-Day Malware Detection Strategy:</a:t>
            </a:r>
            <a:r>
              <a:rPr lang="en-US" sz="2200" b="0" i="0" dirty="0">
                <a:solidFill>
                  <a:schemeClr val="bg1"/>
                </a:solidFill>
                <a:effectLst/>
                <a:latin typeface="Söhne"/>
              </a:rPr>
              <a:t> In the context of zero-day malware detection, Single-class SVMs are used to detect anomalies or instances lying outside the hyperspheres of known malware classes. When a new instance is encountered during testing, if it falls outside any of the hyperspheres corresponding to known malware classes, it is flagged as a potential zero-day malware threat. This strategy enables the detection of previously unseen malware variants by identifying deviations from the normal behavior learned during training.</a:t>
            </a:r>
          </a:p>
        </p:txBody>
      </p:sp>
    </p:spTree>
    <p:extLst>
      <p:ext uri="{BB962C8B-B14F-4D97-AF65-F5344CB8AC3E}">
        <p14:creationId xmlns:p14="http://schemas.microsoft.com/office/powerpoint/2010/main" val="2681870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A866D-088B-569B-AF7A-2B9477122CAF}"/>
              </a:ext>
            </a:extLst>
          </p:cNvPr>
          <p:cNvSpPr>
            <a:spLocks noGrp="1"/>
          </p:cNvSpPr>
          <p:nvPr>
            <p:ph type="title"/>
          </p:nvPr>
        </p:nvSpPr>
        <p:spPr>
          <a:xfrm>
            <a:off x="127000" y="1949057"/>
            <a:ext cx="11827823" cy="1804607"/>
          </a:xfrm>
        </p:spPr>
        <p:txBody>
          <a:bodyPr>
            <a:noAutofit/>
          </a:bodyPr>
          <a:lstStyle/>
          <a:p>
            <a:pPr algn="ctr"/>
            <a:r>
              <a:rPr lang="en-US" sz="8800" b="1" dirty="0">
                <a:solidFill>
                  <a:schemeClr val="bg1"/>
                </a:solidFill>
                <a:latin typeface="Arial" panose="020B0604020202020204" pitchFamily="34" charset="0"/>
                <a:cs typeface="Arial" panose="020B0604020202020204" pitchFamily="34" charset="0"/>
              </a:rPr>
              <a:t>DATASET </a:t>
            </a:r>
            <a:br>
              <a:rPr lang="en-US" sz="8800" b="1" dirty="0">
                <a:solidFill>
                  <a:schemeClr val="bg1"/>
                </a:solidFill>
                <a:latin typeface="Arial" panose="020B0604020202020204" pitchFamily="34" charset="0"/>
                <a:cs typeface="Arial" panose="020B0604020202020204" pitchFamily="34" charset="0"/>
              </a:rPr>
            </a:br>
            <a:r>
              <a:rPr lang="en-US" sz="8800" b="1" dirty="0">
                <a:solidFill>
                  <a:schemeClr val="bg1"/>
                </a:solidFill>
                <a:latin typeface="Arial" panose="020B0604020202020204" pitchFamily="34" charset="0"/>
                <a:cs typeface="Arial" panose="020B0604020202020204" pitchFamily="34" charset="0"/>
              </a:rPr>
              <a:t>AND</a:t>
            </a:r>
            <a:br>
              <a:rPr lang="en-US" sz="8800" b="1" dirty="0">
                <a:solidFill>
                  <a:schemeClr val="bg1"/>
                </a:solidFill>
                <a:latin typeface="Arial" panose="020B0604020202020204" pitchFamily="34" charset="0"/>
                <a:cs typeface="Arial" panose="020B0604020202020204" pitchFamily="34" charset="0"/>
              </a:rPr>
            </a:br>
            <a:r>
              <a:rPr lang="en-US" sz="8800" b="1" dirty="0">
                <a:solidFill>
                  <a:schemeClr val="bg1"/>
                </a:solidFill>
                <a:latin typeface="Arial" panose="020B0604020202020204" pitchFamily="34" charset="0"/>
                <a:cs typeface="Arial" panose="020B0604020202020204" pitchFamily="34" charset="0"/>
              </a:rPr>
              <a:t> EVALUATION</a:t>
            </a:r>
          </a:p>
        </p:txBody>
      </p:sp>
      <p:sp>
        <p:nvSpPr>
          <p:cNvPr id="3" name="Content Placeholder 2">
            <a:extLst>
              <a:ext uri="{FF2B5EF4-FFF2-40B4-BE49-F238E27FC236}">
                <a16:creationId xmlns:a16="http://schemas.microsoft.com/office/drawing/2014/main" id="{18C94FEE-6083-F47C-3A2B-C571DDC77175}"/>
              </a:ext>
            </a:extLst>
          </p:cNvPr>
          <p:cNvSpPr>
            <a:spLocks noGrp="1"/>
          </p:cNvSpPr>
          <p:nvPr>
            <p:ph sz="half" idx="1"/>
          </p:nvPr>
        </p:nvSpPr>
        <p:spPr>
          <a:xfrm>
            <a:off x="127000" y="5035137"/>
            <a:ext cx="12567722" cy="1804607"/>
          </a:xfrm>
        </p:spPr>
        <p:txBody>
          <a:bodyPr>
            <a:noAutofit/>
          </a:bodyPr>
          <a:lstStyle/>
          <a:p>
            <a:pPr marL="0" indent="0" algn="l">
              <a:buNone/>
            </a:pPr>
            <a:r>
              <a:rPr lang="en-US" sz="2200" b="1" i="0" dirty="0">
                <a:solidFill>
                  <a:schemeClr val="bg1"/>
                </a:solidFill>
                <a:effectLst/>
                <a:latin typeface="Söhne"/>
              </a:rPr>
              <a:t>Description of Data Set:</a:t>
            </a:r>
            <a:r>
              <a:rPr lang="en-US" sz="2200" b="0" i="0" dirty="0">
                <a:solidFill>
                  <a:schemeClr val="bg1"/>
                </a:solidFill>
                <a:effectLst/>
                <a:latin typeface="Söhne"/>
              </a:rPr>
              <a:t> The CIC-IDS-2018 data set is commonly used for evaluating intrusion detection systems. It contains a diverse range of network traffic data captured in a simulated environment, including features related to packet headers, payload characteristics, and flow statistics.</a:t>
            </a:r>
          </a:p>
        </p:txBody>
      </p:sp>
    </p:spTree>
    <p:extLst>
      <p:ext uri="{BB962C8B-B14F-4D97-AF65-F5344CB8AC3E}">
        <p14:creationId xmlns:p14="http://schemas.microsoft.com/office/powerpoint/2010/main" val="2528985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60430B6F-FEFA-0924-8A24-72241802BBDB}"/>
              </a:ext>
            </a:extLst>
          </p:cNvPr>
          <p:cNvSpPr txBox="1">
            <a:spLocks/>
          </p:cNvSpPr>
          <p:nvPr/>
        </p:nvSpPr>
        <p:spPr>
          <a:xfrm>
            <a:off x="-84083" y="115614"/>
            <a:ext cx="12065000" cy="487753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a:solidFill>
                  <a:schemeClr val="bg1"/>
                </a:solidFill>
                <a:latin typeface="Söhne"/>
              </a:rPr>
              <a:t>Class Labels and Partitioning:</a:t>
            </a:r>
            <a:r>
              <a:rPr lang="en-US" sz="2200" dirty="0">
                <a:solidFill>
                  <a:schemeClr val="bg1"/>
                </a:solidFill>
                <a:latin typeface="Söhne"/>
              </a:rPr>
              <a:t> Class labels are assigned based on the presence or absence of malware in network flows. The data set is partitioned into training and test sets, with a portion of the instances reserved for training the Single-class SVMs and the remaining used for evaluating the model's performance.</a:t>
            </a:r>
          </a:p>
          <a:p>
            <a:pPr marL="0" indent="0">
              <a:buNone/>
            </a:pPr>
            <a:endParaRPr lang="en-US" sz="2000" dirty="0">
              <a:solidFill>
                <a:schemeClr val="bg1"/>
              </a:solidFill>
              <a:latin typeface="Söhne"/>
            </a:endParaRPr>
          </a:p>
          <a:p>
            <a:r>
              <a:rPr lang="en-US" sz="2200" dirty="0">
                <a:solidFill>
                  <a:schemeClr val="bg1"/>
                </a:solidFill>
                <a:latin typeface="Söhne"/>
              </a:rPr>
              <a:t>Containing labeled traffic data captured in a realistic network environment, the CICIDS 2018 dataset offers researchers and practitioners insights into the behavior of different network protocols, applications, and services. With its diverse set of network traffic features, including packet headers, payload characteristics, and connection statistics, the dataset enables detailed analysis and modeling of network traffic patterns.</a:t>
            </a:r>
          </a:p>
          <a:p>
            <a:pPr marL="0" indent="0">
              <a:buNone/>
            </a:pPr>
            <a:endParaRPr lang="en-US" sz="2200" dirty="0">
              <a:solidFill>
                <a:schemeClr val="bg1"/>
              </a:solidFill>
              <a:latin typeface="Söhne"/>
            </a:endParaRPr>
          </a:p>
          <a:p>
            <a:r>
              <a:rPr lang="en-US" sz="2200" dirty="0">
                <a:solidFill>
                  <a:schemeClr val="bg1"/>
                </a:solidFill>
                <a:latin typeface="Söhne"/>
              </a:rPr>
              <a:t>Overall, the CICIDS 2018 dataset serves as a valuable resource for advancing cybersecurity research, providing a realistic and representative sample of network traffic data for experimentation, benchmarking, and developing effective defense strategies against evolving cyber threats.</a:t>
            </a:r>
          </a:p>
          <a:p>
            <a:endParaRPr lang="en-US" sz="2200" dirty="0">
              <a:solidFill>
                <a:schemeClr val="bg1"/>
              </a:solidFill>
              <a:latin typeface="Söhne"/>
            </a:endParaRPr>
          </a:p>
          <a:p>
            <a:r>
              <a:rPr lang="en-US" sz="2200" b="1" dirty="0">
                <a:solidFill>
                  <a:schemeClr val="bg1"/>
                </a:solidFill>
                <a:latin typeface="Söhne"/>
              </a:rPr>
              <a:t>Performance Metrics:</a:t>
            </a:r>
            <a:r>
              <a:rPr lang="en-US" sz="2200" dirty="0">
                <a:solidFill>
                  <a:schemeClr val="bg1"/>
                </a:solidFill>
                <a:latin typeface="Söhne"/>
              </a:rPr>
              <a:t> Performance metrics such as F1 Score and Area Under the Receiver Operating Characteristic Curve (AUC ROC) are commonly used to evaluate the effectiveness of malware detection systems. The F1 Score provides a balance between precision and recall, while AUC ROC measures the classifier's ability to distinguish between malware and benign instances across various thresholds.</a:t>
            </a:r>
          </a:p>
          <a:p>
            <a:endParaRPr lang="en-US" sz="2200" dirty="0"/>
          </a:p>
        </p:txBody>
      </p:sp>
    </p:spTree>
    <p:extLst>
      <p:ext uri="{BB962C8B-B14F-4D97-AF65-F5344CB8AC3E}">
        <p14:creationId xmlns:p14="http://schemas.microsoft.com/office/powerpoint/2010/main" val="3859369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054B24-FC6C-4DF9-1B29-777D638997EF}"/>
              </a:ext>
            </a:extLst>
          </p:cNvPr>
          <p:cNvPicPr>
            <a:picLocks noChangeAspect="1"/>
          </p:cNvPicPr>
          <p:nvPr/>
        </p:nvPicPr>
        <p:blipFill rotWithShape="1">
          <a:blip r:embed="rId2"/>
          <a:srcRect r="52460" b="-6648"/>
          <a:stretch/>
        </p:blipFill>
        <p:spPr>
          <a:xfrm>
            <a:off x="237330" y="744703"/>
            <a:ext cx="9122569" cy="514350"/>
          </a:xfrm>
          <a:prstGeom prst="rect">
            <a:avLst/>
          </a:prstGeom>
        </p:spPr>
      </p:pic>
      <p:pic>
        <p:nvPicPr>
          <p:cNvPr id="6" name="Picture 5">
            <a:extLst>
              <a:ext uri="{FF2B5EF4-FFF2-40B4-BE49-F238E27FC236}">
                <a16:creationId xmlns:a16="http://schemas.microsoft.com/office/drawing/2014/main" id="{AC522EE2-1784-17A8-E66E-E0F9A2AC88CA}"/>
              </a:ext>
            </a:extLst>
          </p:cNvPr>
          <p:cNvPicPr>
            <a:picLocks noChangeAspect="1"/>
          </p:cNvPicPr>
          <p:nvPr/>
        </p:nvPicPr>
        <p:blipFill>
          <a:blip r:embed="rId3"/>
          <a:stretch>
            <a:fillRect/>
          </a:stretch>
        </p:blipFill>
        <p:spPr>
          <a:xfrm>
            <a:off x="237329" y="1672340"/>
            <a:ext cx="9038707" cy="640080"/>
          </a:xfrm>
          <a:prstGeom prst="rect">
            <a:avLst/>
          </a:prstGeom>
        </p:spPr>
      </p:pic>
      <p:pic>
        <p:nvPicPr>
          <p:cNvPr id="7" name="Picture 6">
            <a:extLst>
              <a:ext uri="{FF2B5EF4-FFF2-40B4-BE49-F238E27FC236}">
                <a16:creationId xmlns:a16="http://schemas.microsoft.com/office/drawing/2014/main" id="{1C0E189A-4886-B01F-8BE4-5D83856C72EC}"/>
              </a:ext>
            </a:extLst>
          </p:cNvPr>
          <p:cNvPicPr>
            <a:picLocks noChangeAspect="1"/>
          </p:cNvPicPr>
          <p:nvPr/>
        </p:nvPicPr>
        <p:blipFill>
          <a:blip r:embed="rId4"/>
          <a:stretch>
            <a:fillRect/>
          </a:stretch>
        </p:blipFill>
        <p:spPr>
          <a:xfrm>
            <a:off x="237329" y="1259053"/>
            <a:ext cx="9122569" cy="385460"/>
          </a:xfrm>
          <a:prstGeom prst="rect">
            <a:avLst/>
          </a:prstGeom>
        </p:spPr>
      </p:pic>
      <p:pic>
        <p:nvPicPr>
          <p:cNvPr id="8" name="Picture 7">
            <a:extLst>
              <a:ext uri="{FF2B5EF4-FFF2-40B4-BE49-F238E27FC236}">
                <a16:creationId xmlns:a16="http://schemas.microsoft.com/office/drawing/2014/main" id="{7104C844-E326-24CE-3E28-CAEC42A69AA4}"/>
              </a:ext>
            </a:extLst>
          </p:cNvPr>
          <p:cNvPicPr>
            <a:picLocks noChangeAspect="1"/>
          </p:cNvPicPr>
          <p:nvPr/>
        </p:nvPicPr>
        <p:blipFill>
          <a:blip r:embed="rId5"/>
          <a:stretch>
            <a:fillRect/>
          </a:stretch>
        </p:blipFill>
        <p:spPr>
          <a:xfrm>
            <a:off x="237329" y="2333403"/>
            <a:ext cx="9721321" cy="410234"/>
          </a:xfrm>
          <a:prstGeom prst="rect">
            <a:avLst/>
          </a:prstGeom>
        </p:spPr>
      </p:pic>
      <p:pic>
        <p:nvPicPr>
          <p:cNvPr id="9" name="Picture 8">
            <a:extLst>
              <a:ext uri="{FF2B5EF4-FFF2-40B4-BE49-F238E27FC236}">
                <a16:creationId xmlns:a16="http://schemas.microsoft.com/office/drawing/2014/main" id="{98DEDB0B-7534-EF0E-D16B-367163DD2101}"/>
              </a:ext>
            </a:extLst>
          </p:cNvPr>
          <p:cNvPicPr>
            <a:picLocks noChangeAspect="1"/>
          </p:cNvPicPr>
          <p:nvPr/>
        </p:nvPicPr>
        <p:blipFill rotWithShape="1">
          <a:blip r:embed="rId6"/>
          <a:srcRect r="45889"/>
          <a:stretch/>
        </p:blipFill>
        <p:spPr>
          <a:xfrm>
            <a:off x="530697" y="4851918"/>
            <a:ext cx="4955704" cy="1882369"/>
          </a:xfrm>
          <a:prstGeom prst="rect">
            <a:avLst/>
          </a:prstGeom>
        </p:spPr>
      </p:pic>
      <p:pic>
        <p:nvPicPr>
          <p:cNvPr id="10" name="Picture 9">
            <a:extLst>
              <a:ext uri="{FF2B5EF4-FFF2-40B4-BE49-F238E27FC236}">
                <a16:creationId xmlns:a16="http://schemas.microsoft.com/office/drawing/2014/main" id="{82C32AF2-9378-B06F-A0BA-41DC4A547CE5}"/>
              </a:ext>
            </a:extLst>
          </p:cNvPr>
          <p:cNvPicPr>
            <a:picLocks noChangeAspect="1"/>
          </p:cNvPicPr>
          <p:nvPr/>
        </p:nvPicPr>
        <p:blipFill>
          <a:blip r:embed="rId7"/>
          <a:stretch>
            <a:fillRect/>
          </a:stretch>
        </p:blipFill>
        <p:spPr>
          <a:xfrm>
            <a:off x="5486401" y="3038861"/>
            <a:ext cx="6429246" cy="3695426"/>
          </a:xfrm>
          <a:prstGeom prst="rect">
            <a:avLst/>
          </a:prstGeom>
        </p:spPr>
      </p:pic>
      <p:sp>
        <p:nvSpPr>
          <p:cNvPr id="2" name="TextBox 1">
            <a:extLst>
              <a:ext uri="{FF2B5EF4-FFF2-40B4-BE49-F238E27FC236}">
                <a16:creationId xmlns:a16="http://schemas.microsoft.com/office/drawing/2014/main" id="{A03C3ACC-A4A8-E596-A7C5-DB02EC827B03}"/>
              </a:ext>
            </a:extLst>
          </p:cNvPr>
          <p:cNvSpPr txBox="1"/>
          <p:nvPr/>
        </p:nvSpPr>
        <p:spPr>
          <a:xfrm>
            <a:off x="83128" y="25076"/>
            <a:ext cx="3372592" cy="707886"/>
          </a:xfrm>
          <a:prstGeom prst="rect">
            <a:avLst/>
          </a:prstGeom>
          <a:noFill/>
        </p:spPr>
        <p:txBody>
          <a:bodyPr wrap="square" rtlCol="0">
            <a:spAutoFit/>
          </a:bodyPr>
          <a:lstStyle/>
          <a:p>
            <a:r>
              <a:rPr lang="en-US" sz="4000" b="1" dirty="0">
                <a:solidFill>
                  <a:schemeClr val="bg1"/>
                </a:solidFill>
              </a:rPr>
              <a:t>CLASS LABELS</a:t>
            </a:r>
          </a:p>
        </p:txBody>
      </p:sp>
      <p:sp>
        <p:nvSpPr>
          <p:cNvPr id="3" name="TextBox 2">
            <a:extLst>
              <a:ext uri="{FF2B5EF4-FFF2-40B4-BE49-F238E27FC236}">
                <a16:creationId xmlns:a16="http://schemas.microsoft.com/office/drawing/2014/main" id="{A0577F8D-FB76-0442-A692-486F2AE38A0F}"/>
              </a:ext>
            </a:extLst>
          </p:cNvPr>
          <p:cNvSpPr txBox="1"/>
          <p:nvPr/>
        </p:nvSpPr>
        <p:spPr>
          <a:xfrm>
            <a:off x="700645" y="3072110"/>
            <a:ext cx="4678877" cy="1323439"/>
          </a:xfrm>
          <a:prstGeom prst="rect">
            <a:avLst/>
          </a:prstGeom>
          <a:noFill/>
        </p:spPr>
        <p:txBody>
          <a:bodyPr wrap="square" rtlCol="0">
            <a:spAutoFit/>
          </a:bodyPr>
          <a:lstStyle/>
          <a:p>
            <a:pPr algn="ctr"/>
            <a:r>
              <a:rPr lang="en-US" sz="4000" b="1" dirty="0">
                <a:solidFill>
                  <a:schemeClr val="bg1"/>
                </a:solidFill>
              </a:rPr>
              <a:t>MODELS USED </a:t>
            </a:r>
          </a:p>
          <a:p>
            <a:pPr algn="ctr"/>
            <a:r>
              <a:rPr lang="en-US" sz="4000" b="1" dirty="0">
                <a:solidFill>
                  <a:schemeClr val="bg1"/>
                </a:solidFill>
              </a:rPr>
              <a:t>IN PROJECT</a:t>
            </a:r>
          </a:p>
        </p:txBody>
      </p:sp>
    </p:spTree>
    <p:extLst>
      <p:ext uri="{BB962C8B-B14F-4D97-AF65-F5344CB8AC3E}">
        <p14:creationId xmlns:p14="http://schemas.microsoft.com/office/powerpoint/2010/main" val="989276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9ADF5A-D206-9E4B-D75A-E4A1392E2CC1}"/>
              </a:ext>
            </a:extLst>
          </p:cNvPr>
          <p:cNvPicPr>
            <a:picLocks noChangeAspect="1"/>
          </p:cNvPicPr>
          <p:nvPr/>
        </p:nvPicPr>
        <p:blipFill>
          <a:blip r:embed="rId2"/>
          <a:stretch>
            <a:fillRect/>
          </a:stretch>
        </p:blipFill>
        <p:spPr>
          <a:xfrm>
            <a:off x="2069951" y="1088876"/>
            <a:ext cx="7772400" cy="1861743"/>
          </a:xfrm>
          <a:prstGeom prst="rect">
            <a:avLst/>
          </a:prstGeom>
        </p:spPr>
      </p:pic>
      <p:pic>
        <p:nvPicPr>
          <p:cNvPr id="3" name="Picture 2">
            <a:extLst>
              <a:ext uri="{FF2B5EF4-FFF2-40B4-BE49-F238E27FC236}">
                <a16:creationId xmlns:a16="http://schemas.microsoft.com/office/drawing/2014/main" id="{7D3E7EBE-76CF-D443-42DA-9620B596F7D7}"/>
              </a:ext>
            </a:extLst>
          </p:cNvPr>
          <p:cNvPicPr>
            <a:picLocks noChangeAspect="1"/>
          </p:cNvPicPr>
          <p:nvPr/>
        </p:nvPicPr>
        <p:blipFill>
          <a:blip r:embed="rId3"/>
          <a:stretch>
            <a:fillRect/>
          </a:stretch>
        </p:blipFill>
        <p:spPr>
          <a:xfrm>
            <a:off x="4184650" y="3143250"/>
            <a:ext cx="3822700" cy="571500"/>
          </a:xfrm>
          <a:prstGeom prst="rect">
            <a:avLst/>
          </a:prstGeom>
        </p:spPr>
      </p:pic>
      <p:sp>
        <p:nvSpPr>
          <p:cNvPr id="4" name="TextBox 3">
            <a:extLst>
              <a:ext uri="{FF2B5EF4-FFF2-40B4-BE49-F238E27FC236}">
                <a16:creationId xmlns:a16="http://schemas.microsoft.com/office/drawing/2014/main" id="{AC6AE88F-E5C2-C6C7-913A-82D4D560D11D}"/>
              </a:ext>
            </a:extLst>
          </p:cNvPr>
          <p:cNvSpPr txBox="1"/>
          <p:nvPr/>
        </p:nvSpPr>
        <p:spPr>
          <a:xfrm>
            <a:off x="2958354" y="4104112"/>
            <a:ext cx="5733826" cy="2554545"/>
          </a:xfrm>
          <a:prstGeom prst="rect">
            <a:avLst/>
          </a:prstGeom>
          <a:noFill/>
        </p:spPr>
        <p:txBody>
          <a:bodyPr wrap="square" rtlCol="0">
            <a:spAutoFit/>
          </a:bodyPr>
          <a:lstStyle/>
          <a:p>
            <a:pPr algn="ctr"/>
            <a:r>
              <a:rPr lang="en-US" sz="4000" b="1" dirty="0">
                <a:solidFill>
                  <a:srgbClr val="FFFF00"/>
                </a:solidFill>
              </a:rPr>
              <a:t>1. THE FIRST TRAINING AND TESTING HAS BEEN DONE 40,000 SAMPLES SELECTED RANDOMLY</a:t>
            </a:r>
          </a:p>
        </p:txBody>
      </p:sp>
    </p:spTree>
    <p:extLst>
      <p:ext uri="{BB962C8B-B14F-4D97-AF65-F5344CB8AC3E}">
        <p14:creationId xmlns:p14="http://schemas.microsoft.com/office/powerpoint/2010/main" val="2655580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565AC37-1EBC-59BE-0B20-89978DF64723}"/>
              </a:ext>
            </a:extLst>
          </p:cNvPr>
          <p:cNvSpPr txBox="1"/>
          <p:nvPr/>
        </p:nvSpPr>
        <p:spPr>
          <a:xfrm>
            <a:off x="1815968" y="0"/>
            <a:ext cx="8922572" cy="923330"/>
          </a:xfrm>
          <a:prstGeom prst="rect">
            <a:avLst/>
          </a:prstGeom>
          <a:noFill/>
        </p:spPr>
        <p:txBody>
          <a:bodyPr wrap="square" rtlCol="0">
            <a:spAutoFit/>
          </a:bodyPr>
          <a:lstStyle/>
          <a:p>
            <a:r>
              <a:rPr lang="en-US" sz="5400" b="1" dirty="0">
                <a:solidFill>
                  <a:schemeClr val="bg1"/>
                </a:solidFill>
              </a:rPr>
              <a:t>MACRO LEVEL PREDICTION</a:t>
            </a:r>
          </a:p>
        </p:txBody>
      </p:sp>
      <p:pic>
        <p:nvPicPr>
          <p:cNvPr id="3" name="Picture 2">
            <a:extLst>
              <a:ext uri="{FF2B5EF4-FFF2-40B4-BE49-F238E27FC236}">
                <a16:creationId xmlns:a16="http://schemas.microsoft.com/office/drawing/2014/main" id="{BD6390DF-2570-E9A5-FE45-30A26A90FBF9}"/>
              </a:ext>
            </a:extLst>
          </p:cNvPr>
          <p:cNvPicPr>
            <a:picLocks noChangeAspect="1"/>
          </p:cNvPicPr>
          <p:nvPr/>
        </p:nvPicPr>
        <p:blipFill>
          <a:blip r:embed="rId2"/>
          <a:stretch>
            <a:fillRect/>
          </a:stretch>
        </p:blipFill>
        <p:spPr>
          <a:xfrm>
            <a:off x="3075708" y="4819128"/>
            <a:ext cx="5564579" cy="1823152"/>
          </a:xfrm>
          <a:prstGeom prst="rect">
            <a:avLst/>
          </a:prstGeom>
        </p:spPr>
      </p:pic>
      <p:pic>
        <p:nvPicPr>
          <p:cNvPr id="4" name="Picture 3">
            <a:extLst>
              <a:ext uri="{FF2B5EF4-FFF2-40B4-BE49-F238E27FC236}">
                <a16:creationId xmlns:a16="http://schemas.microsoft.com/office/drawing/2014/main" id="{240732B6-7490-53B6-F6A1-A38E16DE97BB}"/>
              </a:ext>
            </a:extLst>
          </p:cNvPr>
          <p:cNvPicPr>
            <a:picLocks noChangeAspect="1"/>
          </p:cNvPicPr>
          <p:nvPr/>
        </p:nvPicPr>
        <p:blipFill>
          <a:blip r:embed="rId3"/>
          <a:stretch>
            <a:fillRect/>
          </a:stretch>
        </p:blipFill>
        <p:spPr>
          <a:xfrm>
            <a:off x="2067296" y="821269"/>
            <a:ext cx="7772400" cy="3839751"/>
          </a:xfrm>
          <a:prstGeom prst="rect">
            <a:avLst/>
          </a:prstGeom>
        </p:spPr>
      </p:pic>
    </p:spTree>
    <p:extLst>
      <p:ext uri="{BB962C8B-B14F-4D97-AF65-F5344CB8AC3E}">
        <p14:creationId xmlns:p14="http://schemas.microsoft.com/office/powerpoint/2010/main" val="979638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20F9597-07A8-8FD0-7210-DFA0E88A900D}"/>
              </a:ext>
            </a:extLst>
          </p:cNvPr>
          <p:cNvPicPr>
            <a:picLocks noChangeAspect="1"/>
          </p:cNvPicPr>
          <p:nvPr/>
        </p:nvPicPr>
        <p:blipFill rotWithShape="1">
          <a:blip r:embed="rId2"/>
          <a:srcRect b="24032"/>
          <a:stretch/>
        </p:blipFill>
        <p:spPr>
          <a:xfrm>
            <a:off x="-138647" y="1410142"/>
            <a:ext cx="6234648" cy="2853577"/>
          </a:xfrm>
          <a:prstGeom prst="rect">
            <a:avLst/>
          </a:prstGeom>
        </p:spPr>
      </p:pic>
      <p:pic>
        <p:nvPicPr>
          <p:cNvPr id="7" name="Picture 6">
            <a:extLst>
              <a:ext uri="{FF2B5EF4-FFF2-40B4-BE49-F238E27FC236}">
                <a16:creationId xmlns:a16="http://schemas.microsoft.com/office/drawing/2014/main" id="{FF62F943-8308-E6CA-1632-4A64CB1AFB24}"/>
              </a:ext>
            </a:extLst>
          </p:cNvPr>
          <p:cNvPicPr>
            <a:picLocks noChangeAspect="1"/>
          </p:cNvPicPr>
          <p:nvPr/>
        </p:nvPicPr>
        <p:blipFill rotWithShape="1">
          <a:blip r:embed="rId2"/>
          <a:srcRect t="77475"/>
          <a:stretch/>
        </p:blipFill>
        <p:spPr>
          <a:xfrm>
            <a:off x="-261257" y="4389485"/>
            <a:ext cx="7156016" cy="835657"/>
          </a:xfrm>
          <a:prstGeom prst="rect">
            <a:avLst/>
          </a:prstGeom>
        </p:spPr>
      </p:pic>
      <p:pic>
        <p:nvPicPr>
          <p:cNvPr id="5" name="Picture 4">
            <a:extLst>
              <a:ext uri="{FF2B5EF4-FFF2-40B4-BE49-F238E27FC236}">
                <a16:creationId xmlns:a16="http://schemas.microsoft.com/office/drawing/2014/main" id="{0FEDF176-C0B0-13D2-E205-29EF4E468425}"/>
              </a:ext>
            </a:extLst>
          </p:cNvPr>
          <p:cNvPicPr>
            <a:picLocks noChangeAspect="1"/>
          </p:cNvPicPr>
          <p:nvPr/>
        </p:nvPicPr>
        <p:blipFill rotWithShape="1">
          <a:blip r:embed="rId3"/>
          <a:srcRect b="18443"/>
          <a:stretch/>
        </p:blipFill>
        <p:spPr>
          <a:xfrm>
            <a:off x="5957352" y="2268188"/>
            <a:ext cx="6234648" cy="3726736"/>
          </a:xfrm>
          <a:prstGeom prst="rect">
            <a:avLst/>
          </a:prstGeom>
        </p:spPr>
      </p:pic>
      <p:pic>
        <p:nvPicPr>
          <p:cNvPr id="8" name="Picture 7">
            <a:extLst>
              <a:ext uri="{FF2B5EF4-FFF2-40B4-BE49-F238E27FC236}">
                <a16:creationId xmlns:a16="http://schemas.microsoft.com/office/drawing/2014/main" id="{C7F485C9-A059-6AAD-FA23-3ED84BD6490E}"/>
              </a:ext>
            </a:extLst>
          </p:cNvPr>
          <p:cNvPicPr>
            <a:picLocks noChangeAspect="1"/>
          </p:cNvPicPr>
          <p:nvPr/>
        </p:nvPicPr>
        <p:blipFill rotWithShape="1">
          <a:blip r:embed="rId3"/>
          <a:srcRect t="80164" b="1457"/>
          <a:stretch/>
        </p:blipFill>
        <p:spPr>
          <a:xfrm>
            <a:off x="4673446" y="5994923"/>
            <a:ext cx="7518554" cy="752530"/>
          </a:xfrm>
          <a:prstGeom prst="rect">
            <a:avLst/>
          </a:prstGeom>
        </p:spPr>
      </p:pic>
      <p:sp>
        <p:nvSpPr>
          <p:cNvPr id="2" name="TextBox 1">
            <a:extLst>
              <a:ext uri="{FF2B5EF4-FFF2-40B4-BE49-F238E27FC236}">
                <a16:creationId xmlns:a16="http://schemas.microsoft.com/office/drawing/2014/main" id="{C624745B-FC35-8B31-A100-FCD78F010651}"/>
              </a:ext>
            </a:extLst>
          </p:cNvPr>
          <p:cNvSpPr txBox="1"/>
          <p:nvPr/>
        </p:nvSpPr>
        <p:spPr>
          <a:xfrm>
            <a:off x="1802576" y="25146"/>
            <a:ext cx="11226800" cy="923330"/>
          </a:xfrm>
          <a:prstGeom prst="rect">
            <a:avLst/>
          </a:prstGeom>
          <a:noFill/>
        </p:spPr>
        <p:txBody>
          <a:bodyPr wrap="square" rtlCol="0">
            <a:spAutoFit/>
          </a:bodyPr>
          <a:lstStyle/>
          <a:p>
            <a:r>
              <a:rPr lang="en-US" sz="5400" b="1" dirty="0">
                <a:solidFill>
                  <a:schemeClr val="bg1"/>
                </a:solidFill>
              </a:rPr>
              <a:t>MICRO LEVEL PREDICTION</a:t>
            </a:r>
          </a:p>
        </p:txBody>
      </p:sp>
      <p:sp>
        <p:nvSpPr>
          <p:cNvPr id="4" name="TextBox 3">
            <a:extLst>
              <a:ext uri="{FF2B5EF4-FFF2-40B4-BE49-F238E27FC236}">
                <a16:creationId xmlns:a16="http://schemas.microsoft.com/office/drawing/2014/main" id="{244B14AD-E689-FB75-3CDA-454FB8B11932}"/>
              </a:ext>
            </a:extLst>
          </p:cNvPr>
          <p:cNvSpPr txBox="1"/>
          <p:nvPr/>
        </p:nvSpPr>
        <p:spPr>
          <a:xfrm>
            <a:off x="831520" y="652360"/>
            <a:ext cx="11544300" cy="923330"/>
          </a:xfrm>
          <a:prstGeom prst="rect">
            <a:avLst/>
          </a:prstGeom>
          <a:noFill/>
        </p:spPr>
        <p:txBody>
          <a:bodyPr wrap="square" rtlCol="0">
            <a:spAutoFit/>
          </a:bodyPr>
          <a:lstStyle/>
          <a:p>
            <a:r>
              <a:rPr lang="en-US" sz="5400" b="1" dirty="0">
                <a:solidFill>
                  <a:schemeClr val="bg1"/>
                </a:solidFill>
              </a:rPr>
              <a:t>USING AVERAGE PRECISION SCORE </a:t>
            </a:r>
          </a:p>
        </p:txBody>
      </p:sp>
    </p:spTree>
    <p:extLst>
      <p:ext uri="{BB962C8B-B14F-4D97-AF65-F5344CB8AC3E}">
        <p14:creationId xmlns:p14="http://schemas.microsoft.com/office/powerpoint/2010/main" val="1057456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FFD68C-0BE6-594B-92F5-4E979C95B9E0}"/>
              </a:ext>
            </a:extLst>
          </p:cNvPr>
          <p:cNvSpPr txBox="1"/>
          <p:nvPr/>
        </p:nvSpPr>
        <p:spPr>
          <a:xfrm>
            <a:off x="1004867" y="258901"/>
            <a:ext cx="10182266" cy="1798570"/>
          </a:xfrm>
          <a:prstGeom prst="rect">
            <a:avLst/>
          </a:prstGeom>
          <a:noFill/>
        </p:spPr>
        <p:txBody>
          <a:bodyPr wrap="square" rtlCol="0">
            <a:spAutoFit/>
          </a:bodyPr>
          <a:lstStyle/>
          <a:p>
            <a:pPr algn="ctr"/>
            <a:r>
              <a:rPr lang="en-US" sz="5400" b="1" dirty="0">
                <a:solidFill>
                  <a:schemeClr val="bg1"/>
                </a:solidFill>
              </a:rPr>
              <a:t>USING HAMMING LOSS EVALUATION METHOD</a:t>
            </a:r>
          </a:p>
        </p:txBody>
      </p:sp>
      <p:sp>
        <p:nvSpPr>
          <p:cNvPr id="4" name="TextBox 3">
            <a:extLst>
              <a:ext uri="{FF2B5EF4-FFF2-40B4-BE49-F238E27FC236}">
                <a16:creationId xmlns:a16="http://schemas.microsoft.com/office/drawing/2014/main" id="{A87CFF61-0197-D13E-2359-6092B24BCBC6}"/>
              </a:ext>
            </a:extLst>
          </p:cNvPr>
          <p:cNvSpPr txBox="1"/>
          <p:nvPr/>
        </p:nvSpPr>
        <p:spPr>
          <a:xfrm>
            <a:off x="935099" y="3429000"/>
            <a:ext cx="11020302" cy="3170099"/>
          </a:xfrm>
          <a:prstGeom prst="rect">
            <a:avLst/>
          </a:prstGeom>
          <a:noFill/>
        </p:spPr>
        <p:txBody>
          <a:bodyPr wrap="square" rtlCol="0">
            <a:spAutoFit/>
          </a:bodyPr>
          <a:lstStyle/>
          <a:p>
            <a:endParaRPr lang="en-US" sz="4000" b="1" i="0" dirty="0">
              <a:solidFill>
                <a:srgbClr val="FFFF00"/>
              </a:solidFill>
              <a:effectLst/>
              <a:latin typeface="Söhne"/>
            </a:endParaRPr>
          </a:p>
          <a:p>
            <a:r>
              <a:rPr lang="en-US" sz="4000" b="0" i="0" dirty="0">
                <a:solidFill>
                  <a:srgbClr val="FFFF00"/>
                </a:solidFill>
                <a:effectLst/>
                <a:latin typeface="Söhne"/>
              </a:rPr>
              <a:t>In the context of Hamming loss, a score is predicted within the range of 0 to 1. Lower scores indicate higher model accuracy, with 0 representing perfect accuracy and 1 indicating complete inaccuracy</a:t>
            </a:r>
            <a:r>
              <a:rPr lang="en-US" sz="4000" b="1" i="0" dirty="0">
                <a:solidFill>
                  <a:srgbClr val="FFFF00"/>
                </a:solidFill>
                <a:effectLst/>
                <a:highlight>
                  <a:srgbClr val="C0C0C0"/>
                </a:highlight>
                <a:latin typeface="Söhne"/>
              </a:rPr>
              <a:t>.</a:t>
            </a:r>
            <a:endParaRPr lang="en-US" sz="4000" b="1" dirty="0">
              <a:solidFill>
                <a:srgbClr val="FFFF00"/>
              </a:solidFill>
              <a:highlight>
                <a:srgbClr val="C0C0C0"/>
              </a:highlight>
            </a:endParaRPr>
          </a:p>
        </p:txBody>
      </p:sp>
      <p:pic>
        <p:nvPicPr>
          <p:cNvPr id="2" name="Picture 1">
            <a:extLst>
              <a:ext uri="{FF2B5EF4-FFF2-40B4-BE49-F238E27FC236}">
                <a16:creationId xmlns:a16="http://schemas.microsoft.com/office/drawing/2014/main" id="{1A389A83-6F04-0C49-9BAD-2D10637E6142}"/>
              </a:ext>
            </a:extLst>
          </p:cNvPr>
          <p:cNvPicPr>
            <a:picLocks noChangeAspect="1"/>
          </p:cNvPicPr>
          <p:nvPr/>
        </p:nvPicPr>
        <p:blipFill>
          <a:blip r:embed="rId2"/>
          <a:stretch>
            <a:fillRect/>
          </a:stretch>
        </p:blipFill>
        <p:spPr>
          <a:xfrm>
            <a:off x="2019795" y="2057471"/>
            <a:ext cx="7772400" cy="1860147"/>
          </a:xfrm>
          <a:prstGeom prst="rect">
            <a:avLst/>
          </a:prstGeom>
        </p:spPr>
      </p:pic>
    </p:spTree>
    <p:extLst>
      <p:ext uri="{BB962C8B-B14F-4D97-AF65-F5344CB8AC3E}">
        <p14:creationId xmlns:p14="http://schemas.microsoft.com/office/powerpoint/2010/main" val="2697883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B3948B-5090-70E5-9CD3-A0EFED8F5F74}"/>
              </a:ext>
            </a:extLst>
          </p:cNvPr>
          <p:cNvSpPr txBox="1"/>
          <p:nvPr/>
        </p:nvSpPr>
        <p:spPr>
          <a:xfrm>
            <a:off x="1656968" y="4582036"/>
            <a:ext cx="8454928" cy="1938992"/>
          </a:xfrm>
          <a:prstGeom prst="rect">
            <a:avLst/>
          </a:prstGeom>
          <a:noFill/>
        </p:spPr>
        <p:txBody>
          <a:bodyPr wrap="square" rtlCol="0">
            <a:spAutoFit/>
          </a:bodyPr>
          <a:lstStyle/>
          <a:p>
            <a:pPr algn="ctr"/>
            <a:r>
              <a:rPr lang="en-US" sz="4000" b="1" dirty="0">
                <a:solidFill>
                  <a:srgbClr val="FFFF00"/>
                </a:solidFill>
              </a:rPr>
              <a:t>2. THE SECOND TRAINING AND TESTING IS BEING DONE FOR 4,00,000 SAMPLES SELECTED RANDOMLY</a:t>
            </a:r>
          </a:p>
        </p:txBody>
      </p:sp>
      <p:pic>
        <p:nvPicPr>
          <p:cNvPr id="5" name="Picture 4">
            <a:extLst>
              <a:ext uri="{FF2B5EF4-FFF2-40B4-BE49-F238E27FC236}">
                <a16:creationId xmlns:a16="http://schemas.microsoft.com/office/drawing/2014/main" id="{9338C274-1D4A-2C55-A51F-C54B22F566E9}"/>
              </a:ext>
            </a:extLst>
          </p:cNvPr>
          <p:cNvPicPr>
            <a:picLocks noChangeAspect="1"/>
          </p:cNvPicPr>
          <p:nvPr/>
        </p:nvPicPr>
        <p:blipFill>
          <a:blip r:embed="rId2"/>
          <a:stretch>
            <a:fillRect/>
          </a:stretch>
        </p:blipFill>
        <p:spPr>
          <a:xfrm>
            <a:off x="2197690" y="161143"/>
            <a:ext cx="7796620" cy="1508760"/>
          </a:xfrm>
          <a:prstGeom prst="rect">
            <a:avLst/>
          </a:prstGeom>
        </p:spPr>
      </p:pic>
      <p:pic>
        <p:nvPicPr>
          <p:cNvPr id="6" name="Picture 5">
            <a:extLst>
              <a:ext uri="{FF2B5EF4-FFF2-40B4-BE49-F238E27FC236}">
                <a16:creationId xmlns:a16="http://schemas.microsoft.com/office/drawing/2014/main" id="{146F372A-57A9-65F2-BA40-C1343ABF5EE6}"/>
              </a:ext>
            </a:extLst>
          </p:cNvPr>
          <p:cNvPicPr>
            <a:picLocks noChangeAspect="1"/>
          </p:cNvPicPr>
          <p:nvPr/>
        </p:nvPicPr>
        <p:blipFill>
          <a:blip r:embed="rId3"/>
          <a:stretch>
            <a:fillRect/>
          </a:stretch>
        </p:blipFill>
        <p:spPr>
          <a:xfrm>
            <a:off x="4716032" y="1490841"/>
            <a:ext cx="2336800" cy="431800"/>
          </a:xfrm>
          <a:prstGeom prst="rect">
            <a:avLst/>
          </a:prstGeom>
        </p:spPr>
      </p:pic>
      <p:pic>
        <p:nvPicPr>
          <p:cNvPr id="7" name="Picture 6">
            <a:extLst>
              <a:ext uri="{FF2B5EF4-FFF2-40B4-BE49-F238E27FC236}">
                <a16:creationId xmlns:a16="http://schemas.microsoft.com/office/drawing/2014/main" id="{0EF354B7-630C-938B-E546-DD1F53745B77}"/>
              </a:ext>
            </a:extLst>
          </p:cNvPr>
          <p:cNvPicPr>
            <a:picLocks noChangeAspect="1"/>
          </p:cNvPicPr>
          <p:nvPr/>
        </p:nvPicPr>
        <p:blipFill>
          <a:blip r:embed="rId4"/>
          <a:stretch>
            <a:fillRect/>
          </a:stretch>
        </p:blipFill>
        <p:spPr>
          <a:xfrm>
            <a:off x="3138095" y="2453284"/>
            <a:ext cx="5915809" cy="1598109"/>
          </a:xfrm>
          <a:prstGeom prst="rect">
            <a:avLst/>
          </a:prstGeom>
        </p:spPr>
      </p:pic>
    </p:spTree>
    <p:extLst>
      <p:ext uri="{BB962C8B-B14F-4D97-AF65-F5344CB8AC3E}">
        <p14:creationId xmlns:p14="http://schemas.microsoft.com/office/powerpoint/2010/main" val="851288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0B1254-6CD8-6A54-7D75-61FA7F77549D}"/>
              </a:ext>
            </a:extLst>
          </p:cNvPr>
          <p:cNvSpPr txBox="1"/>
          <p:nvPr/>
        </p:nvSpPr>
        <p:spPr>
          <a:xfrm>
            <a:off x="1796183" y="18397"/>
            <a:ext cx="8922572" cy="923330"/>
          </a:xfrm>
          <a:prstGeom prst="rect">
            <a:avLst/>
          </a:prstGeom>
          <a:noFill/>
        </p:spPr>
        <p:txBody>
          <a:bodyPr wrap="square" rtlCol="0">
            <a:spAutoFit/>
          </a:bodyPr>
          <a:lstStyle/>
          <a:p>
            <a:r>
              <a:rPr lang="en-US" sz="5400" b="1" dirty="0">
                <a:solidFill>
                  <a:schemeClr val="bg1"/>
                </a:solidFill>
              </a:rPr>
              <a:t>MACRO LEVEL PREDICTION</a:t>
            </a:r>
          </a:p>
        </p:txBody>
      </p:sp>
      <p:pic>
        <p:nvPicPr>
          <p:cNvPr id="4" name="Picture 3">
            <a:extLst>
              <a:ext uri="{FF2B5EF4-FFF2-40B4-BE49-F238E27FC236}">
                <a16:creationId xmlns:a16="http://schemas.microsoft.com/office/drawing/2014/main" id="{53670B8E-6ED6-22E1-9B0F-D7F8FC5AB674}"/>
              </a:ext>
            </a:extLst>
          </p:cNvPr>
          <p:cNvPicPr>
            <a:picLocks noChangeAspect="1"/>
          </p:cNvPicPr>
          <p:nvPr/>
        </p:nvPicPr>
        <p:blipFill>
          <a:blip r:embed="rId2"/>
          <a:stretch>
            <a:fillRect/>
          </a:stretch>
        </p:blipFill>
        <p:spPr>
          <a:xfrm>
            <a:off x="2290559" y="4295537"/>
            <a:ext cx="7610881" cy="2372601"/>
          </a:xfrm>
          <a:prstGeom prst="rect">
            <a:avLst/>
          </a:prstGeom>
        </p:spPr>
      </p:pic>
      <p:pic>
        <p:nvPicPr>
          <p:cNvPr id="5" name="Picture 4">
            <a:extLst>
              <a:ext uri="{FF2B5EF4-FFF2-40B4-BE49-F238E27FC236}">
                <a16:creationId xmlns:a16="http://schemas.microsoft.com/office/drawing/2014/main" id="{272EF1F1-C481-B8C2-2639-267B8608A346}"/>
              </a:ext>
            </a:extLst>
          </p:cNvPr>
          <p:cNvPicPr>
            <a:picLocks noChangeAspect="1"/>
          </p:cNvPicPr>
          <p:nvPr/>
        </p:nvPicPr>
        <p:blipFill>
          <a:blip r:embed="rId3"/>
          <a:stretch>
            <a:fillRect/>
          </a:stretch>
        </p:blipFill>
        <p:spPr>
          <a:xfrm>
            <a:off x="2290559" y="830955"/>
            <a:ext cx="7610881" cy="3463016"/>
          </a:xfrm>
          <a:prstGeom prst="rect">
            <a:avLst/>
          </a:prstGeom>
        </p:spPr>
      </p:pic>
    </p:spTree>
    <p:extLst>
      <p:ext uri="{BB962C8B-B14F-4D97-AF65-F5344CB8AC3E}">
        <p14:creationId xmlns:p14="http://schemas.microsoft.com/office/powerpoint/2010/main" val="2932980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10C0C3-18FE-5BB0-9E9F-30ADD908FD87}"/>
              </a:ext>
            </a:extLst>
          </p:cNvPr>
          <p:cNvPicPr>
            <a:picLocks noChangeAspect="1"/>
          </p:cNvPicPr>
          <p:nvPr/>
        </p:nvPicPr>
        <p:blipFill>
          <a:blip r:embed="rId2"/>
          <a:stretch>
            <a:fillRect/>
          </a:stretch>
        </p:blipFill>
        <p:spPr>
          <a:xfrm>
            <a:off x="2080708" y="1632911"/>
            <a:ext cx="7772400" cy="4603395"/>
          </a:xfrm>
          <a:prstGeom prst="rect">
            <a:avLst/>
          </a:prstGeom>
        </p:spPr>
      </p:pic>
      <p:sp>
        <p:nvSpPr>
          <p:cNvPr id="7" name="TextBox 6">
            <a:extLst>
              <a:ext uri="{FF2B5EF4-FFF2-40B4-BE49-F238E27FC236}">
                <a16:creationId xmlns:a16="http://schemas.microsoft.com/office/drawing/2014/main" id="{A8F1B8E0-E4AF-BEDC-54A0-60B49643AC61}"/>
              </a:ext>
            </a:extLst>
          </p:cNvPr>
          <p:cNvSpPr txBox="1"/>
          <p:nvPr/>
        </p:nvSpPr>
        <p:spPr>
          <a:xfrm>
            <a:off x="2008243" y="0"/>
            <a:ext cx="9353475" cy="923330"/>
          </a:xfrm>
          <a:prstGeom prst="rect">
            <a:avLst/>
          </a:prstGeom>
          <a:noFill/>
        </p:spPr>
        <p:txBody>
          <a:bodyPr wrap="square" rtlCol="0">
            <a:spAutoFit/>
          </a:bodyPr>
          <a:lstStyle/>
          <a:p>
            <a:r>
              <a:rPr lang="en-US" sz="5400" b="1" dirty="0">
                <a:solidFill>
                  <a:schemeClr val="bg1"/>
                </a:solidFill>
              </a:rPr>
              <a:t>MICRO LEVEL PREDICTION</a:t>
            </a:r>
          </a:p>
        </p:txBody>
      </p:sp>
      <p:sp>
        <p:nvSpPr>
          <p:cNvPr id="3" name="TextBox 2">
            <a:extLst>
              <a:ext uri="{FF2B5EF4-FFF2-40B4-BE49-F238E27FC236}">
                <a16:creationId xmlns:a16="http://schemas.microsoft.com/office/drawing/2014/main" id="{E2A40765-9D9F-4343-0C69-69A78D1BADFA}"/>
              </a:ext>
            </a:extLst>
          </p:cNvPr>
          <p:cNvSpPr txBox="1"/>
          <p:nvPr/>
        </p:nvSpPr>
        <p:spPr>
          <a:xfrm>
            <a:off x="830282" y="709581"/>
            <a:ext cx="11544300" cy="923330"/>
          </a:xfrm>
          <a:prstGeom prst="rect">
            <a:avLst/>
          </a:prstGeom>
          <a:noFill/>
        </p:spPr>
        <p:txBody>
          <a:bodyPr wrap="square" rtlCol="0">
            <a:spAutoFit/>
          </a:bodyPr>
          <a:lstStyle/>
          <a:p>
            <a:r>
              <a:rPr lang="en-US" sz="5400" b="1" dirty="0">
                <a:solidFill>
                  <a:schemeClr val="bg1"/>
                </a:solidFill>
              </a:rPr>
              <a:t>USING AVERAGE PRECISION SCORE </a:t>
            </a:r>
          </a:p>
        </p:txBody>
      </p:sp>
    </p:spTree>
    <p:extLst>
      <p:ext uri="{BB962C8B-B14F-4D97-AF65-F5344CB8AC3E}">
        <p14:creationId xmlns:p14="http://schemas.microsoft.com/office/powerpoint/2010/main" val="3812911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FFD68C-0BE6-594B-92F5-4E979C95B9E0}"/>
              </a:ext>
            </a:extLst>
          </p:cNvPr>
          <p:cNvSpPr txBox="1"/>
          <p:nvPr/>
        </p:nvSpPr>
        <p:spPr>
          <a:xfrm>
            <a:off x="1004867" y="258901"/>
            <a:ext cx="10182266" cy="1798570"/>
          </a:xfrm>
          <a:prstGeom prst="rect">
            <a:avLst/>
          </a:prstGeom>
          <a:noFill/>
        </p:spPr>
        <p:txBody>
          <a:bodyPr wrap="square" rtlCol="0">
            <a:spAutoFit/>
          </a:bodyPr>
          <a:lstStyle/>
          <a:p>
            <a:pPr algn="ctr"/>
            <a:r>
              <a:rPr lang="en-US" sz="5400" b="1" dirty="0">
                <a:solidFill>
                  <a:schemeClr val="bg1"/>
                </a:solidFill>
              </a:rPr>
              <a:t>USING HAMMING LOSS EVALUATION METHOD</a:t>
            </a:r>
          </a:p>
        </p:txBody>
      </p:sp>
      <p:sp>
        <p:nvSpPr>
          <p:cNvPr id="4" name="TextBox 3">
            <a:extLst>
              <a:ext uri="{FF2B5EF4-FFF2-40B4-BE49-F238E27FC236}">
                <a16:creationId xmlns:a16="http://schemas.microsoft.com/office/drawing/2014/main" id="{A87CFF61-0197-D13E-2359-6092B24BCBC6}"/>
              </a:ext>
            </a:extLst>
          </p:cNvPr>
          <p:cNvSpPr txBox="1"/>
          <p:nvPr/>
        </p:nvSpPr>
        <p:spPr>
          <a:xfrm>
            <a:off x="935099" y="3429000"/>
            <a:ext cx="11020302" cy="3170099"/>
          </a:xfrm>
          <a:prstGeom prst="rect">
            <a:avLst/>
          </a:prstGeom>
          <a:noFill/>
        </p:spPr>
        <p:txBody>
          <a:bodyPr wrap="square" rtlCol="0">
            <a:spAutoFit/>
          </a:bodyPr>
          <a:lstStyle/>
          <a:p>
            <a:endParaRPr lang="en-US" sz="4000" b="1" i="0" dirty="0">
              <a:solidFill>
                <a:srgbClr val="FFFF00"/>
              </a:solidFill>
              <a:effectLst/>
              <a:latin typeface="Söhne"/>
            </a:endParaRPr>
          </a:p>
          <a:p>
            <a:r>
              <a:rPr lang="en-US" sz="4000" b="0" i="0" dirty="0">
                <a:solidFill>
                  <a:srgbClr val="FFFF00"/>
                </a:solidFill>
                <a:effectLst/>
                <a:latin typeface="Söhne"/>
              </a:rPr>
              <a:t>In the context of Hamming loss, a score is predicted within the range of 0 to 1. Lower scores indicate higher model accuracy, with 0 representing perfect accuracy and 1 indicating complete inaccuracy</a:t>
            </a:r>
            <a:r>
              <a:rPr lang="en-US" sz="4000" b="1" i="0" dirty="0">
                <a:solidFill>
                  <a:srgbClr val="FFFF00"/>
                </a:solidFill>
                <a:effectLst/>
                <a:highlight>
                  <a:srgbClr val="C0C0C0"/>
                </a:highlight>
                <a:latin typeface="Söhne"/>
              </a:rPr>
              <a:t>.</a:t>
            </a:r>
            <a:endParaRPr lang="en-US" sz="4000" b="1" dirty="0">
              <a:solidFill>
                <a:srgbClr val="FFFF00"/>
              </a:solidFill>
              <a:highlight>
                <a:srgbClr val="C0C0C0"/>
              </a:highlight>
            </a:endParaRPr>
          </a:p>
        </p:txBody>
      </p:sp>
      <p:pic>
        <p:nvPicPr>
          <p:cNvPr id="2" name="Picture 1">
            <a:extLst>
              <a:ext uri="{FF2B5EF4-FFF2-40B4-BE49-F238E27FC236}">
                <a16:creationId xmlns:a16="http://schemas.microsoft.com/office/drawing/2014/main" id="{DEBC112A-2A33-C409-2A7B-2A8BBC4550A3}"/>
              </a:ext>
            </a:extLst>
          </p:cNvPr>
          <p:cNvPicPr>
            <a:picLocks noChangeAspect="1"/>
          </p:cNvPicPr>
          <p:nvPr/>
        </p:nvPicPr>
        <p:blipFill>
          <a:blip r:embed="rId2"/>
          <a:stretch>
            <a:fillRect/>
          </a:stretch>
        </p:blipFill>
        <p:spPr>
          <a:xfrm>
            <a:off x="2209800" y="2238761"/>
            <a:ext cx="7772400" cy="1739209"/>
          </a:xfrm>
          <a:prstGeom prst="rect">
            <a:avLst/>
          </a:prstGeom>
        </p:spPr>
      </p:pic>
    </p:spTree>
    <p:extLst>
      <p:ext uri="{BB962C8B-B14F-4D97-AF65-F5344CB8AC3E}">
        <p14:creationId xmlns:p14="http://schemas.microsoft.com/office/powerpoint/2010/main" val="2328439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8B088-2B0E-0D1E-2253-B91161FC7BCE}"/>
              </a:ext>
            </a:extLst>
          </p:cNvPr>
          <p:cNvSpPr>
            <a:spLocks noGrp="1"/>
          </p:cNvSpPr>
          <p:nvPr>
            <p:ph type="title"/>
          </p:nvPr>
        </p:nvSpPr>
        <p:spPr>
          <a:xfrm>
            <a:off x="0" y="2481942"/>
            <a:ext cx="12636335" cy="2588821"/>
          </a:xfrm>
        </p:spPr>
        <p:txBody>
          <a:bodyPr>
            <a:noAutofit/>
          </a:bodyPr>
          <a:lstStyle/>
          <a:p>
            <a:r>
              <a:rPr lang="en-US" sz="8800" b="1" i="0" dirty="0">
                <a:solidFill>
                  <a:schemeClr val="bg1"/>
                </a:solidFill>
                <a:effectLst/>
                <a:latin typeface="Arial" panose="020B0604020202020204" pitchFamily="34" charset="0"/>
                <a:cs typeface="Arial" panose="020B0604020202020204" pitchFamily="34" charset="0"/>
              </a:rPr>
              <a:t> Experimental Results</a:t>
            </a:r>
            <a:br>
              <a:rPr lang="en-US" sz="8800" b="1" i="0" dirty="0">
                <a:solidFill>
                  <a:schemeClr val="bg1"/>
                </a:solidFill>
                <a:effectLst/>
                <a:latin typeface="Arial" panose="020B0604020202020204" pitchFamily="34" charset="0"/>
                <a:cs typeface="Arial" panose="020B0604020202020204" pitchFamily="34" charset="0"/>
              </a:rPr>
            </a:br>
            <a:endParaRPr lang="en-US" sz="88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7057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3BC2024F-5476-224B-8857-65F7A1F68D55}"/>
              </a:ext>
            </a:extLst>
          </p:cNvPr>
          <p:cNvSpPr txBox="1">
            <a:spLocks/>
          </p:cNvSpPr>
          <p:nvPr/>
        </p:nvSpPr>
        <p:spPr>
          <a:xfrm>
            <a:off x="261257" y="391638"/>
            <a:ext cx="11234057" cy="60747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b="1" dirty="0">
                <a:solidFill>
                  <a:schemeClr val="bg1"/>
                </a:solidFill>
                <a:latin typeface="Söhne"/>
              </a:rPr>
              <a:t>Results of Macro-level Classifier:</a:t>
            </a:r>
          </a:p>
          <a:p>
            <a:pPr marL="0" indent="0">
              <a:buFont typeface="Arial" panose="020B0604020202020204" pitchFamily="34" charset="0"/>
              <a:buNone/>
            </a:pPr>
            <a:endParaRPr lang="en-US" sz="1200" dirty="0">
              <a:solidFill>
                <a:schemeClr val="bg1"/>
              </a:solidFill>
              <a:latin typeface="Söhne"/>
            </a:endParaRPr>
          </a:p>
          <a:p>
            <a:pPr marL="0" indent="0">
              <a:buFont typeface="Arial" panose="020B0604020202020204" pitchFamily="34" charset="0"/>
              <a:buNone/>
            </a:pPr>
            <a:endParaRPr lang="en-US" sz="1200" dirty="0">
              <a:solidFill>
                <a:schemeClr val="bg1"/>
              </a:solidFill>
              <a:latin typeface="Söhne"/>
            </a:endParaRPr>
          </a:p>
          <a:p>
            <a:r>
              <a:rPr lang="en-US" sz="2400" dirty="0">
                <a:solidFill>
                  <a:schemeClr val="bg1"/>
                </a:solidFill>
                <a:latin typeface="Söhne"/>
              </a:rPr>
              <a:t>The macro-level classifier, employing the Random Forest algorithm, demonstrates strong performance in detecting both known malware and zero-day malware instances. It achieves high accuracy in distinguishing between benign and malicious flows, showcasing its effectiveness as the initial screening mechanism.</a:t>
            </a:r>
          </a:p>
          <a:p>
            <a:pPr marL="0" indent="0">
              <a:buNone/>
            </a:pPr>
            <a:endParaRPr lang="en-US" sz="2400" dirty="0">
              <a:solidFill>
                <a:schemeClr val="bg1"/>
              </a:solidFill>
              <a:latin typeface="Söhne"/>
            </a:endParaRPr>
          </a:p>
          <a:p>
            <a:r>
              <a:rPr lang="en-US" sz="2400" dirty="0">
                <a:solidFill>
                  <a:schemeClr val="bg1"/>
                </a:solidFill>
                <a:latin typeface="Söhne"/>
              </a:rPr>
              <a:t>In terms of F1 </a:t>
            </a:r>
            <a:r>
              <a:rPr lang="en-US" sz="2400" dirty="0" err="1">
                <a:solidFill>
                  <a:schemeClr val="bg1"/>
                </a:solidFill>
                <a:latin typeface="Söhne"/>
              </a:rPr>
              <a:t>Score,Accuracy,Precision</a:t>
            </a:r>
            <a:r>
              <a:rPr lang="en-US" sz="2400" dirty="0">
                <a:solidFill>
                  <a:schemeClr val="bg1"/>
                </a:solidFill>
                <a:latin typeface="Söhne"/>
              </a:rPr>
              <a:t> and Recall on malicious classes, the macro-level classifier exhibits robust performance, indicating its ability to achieve a balance between precision and recall in identifying various types of malware. </a:t>
            </a:r>
          </a:p>
          <a:p>
            <a:r>
              <a:rPr lang="en-US" sz="2400" dirty="0">
                <a:solidFill>
                  <a:schemeClr val="bg1"/>
                </a:solidFill>
                <a:latin typeface="Söhne"/>
              </a:rPr>
              <a:t>We got a ~96+% score in all evaluation parameters while testing for macro level classifier.</a:t>
            </a:r>
          </a:p>
          <a:p>
            <a:endParaRPr lang="en-US" sz="2200" dirty="0">
              <a:solidFill>
                <a:schemeClr val="bg1"/>
              </a:solidFill>
            </a:endParaRPr>
          </a:p>
        </p:txBody>
      </p:sp>
    </p:spTree>
    <p:extLst>
      <p:ext uri="{BB962C8B-B14F-4D97-AF65-F5344CB8AC3E}">
        <p14:creationId xmlns:p14="http://schemas.microsoft.com/office/powerpoint/2010/main" val="1294221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EFB6ACB1-4331-E946-5F3D-39D362676DC3}"/>
              </a:ext>
            </a:extLst>
          </p:cNvPr>
          <p:cNvSpPr txBox="1">
            <a:spLocks/>
          </p:cNvSpPr>
          <p:nvPr/>
        </p:nvSpPr>
        <p:spPr>
          <a:xfrm>
            <a:off x="-1" y="733301"/>
            <a:ext cx="12053455" cy="583375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b="1" dirty="0">
                <a:solidFill>
                  <a:schemeClr val="bg1"/>
                </a:solidFill>
                <a:latin typeface="Söhne"/>
              </a:rPr>
              <a:t>Results of Micro-level Classifiers:</a:t>
            </a:r>
          </a:p>
          <a:p>
            <a:pPr marL="0" indent="0">
              <a:buFont typeface="Arial" panose="020B0604020202020204" pitchFamily="34" charset="0"/>
              <a:buNone/>
            </a:pPr>
            <a:endParaRPr lang="en-US" sz="1200" b="1" dirty="0">
              <a:solidFill>
                <a:schemeClr val="bg1"/>
              </a:solidFill>
              <a:latin typeface="Söhne"/>
            </a:endParaRPr>
          </a:p>
          <a:p>
            <a:pPr marL="0" indent="0">
              <a:buFont typeface="Arial" panose="020B0604020202020204" pitchFamily="34" charset="0"/>
              <a:buNone/>
            </a:pPr>
            <a:endParaRPr lang="en-US" sz="1200" b="1" dirty="0">
              <a:solidFill>
                <a:schemeClr val="bg1"/>
              </a:solidFill>
              <a:latin typeface="Söhne"/>
            </a:endParaRPr>
          </a:p>
          <a:p>
            <a:r>
              <a:rPr lang="en-US" sz="2400" dirty="0">
                <a:solidFill>
                  <a:schemeClr val="bg1"/>
                </a:solidFill>
                <a:latin typeface="Söhne"/>
              </a:rPr>
              <a:t>The micro-level classifiers, consisting of Single-class SVM models specialized in detecting specific malware classes, yield promising results in detecting zero-day malware.</a:t>
            </a:r>
          </a:p>
          <a:p>
            <a:pPr marL="0" indent="0">
              <a:buNone/>
            </a:pPr>
            <a:endParaRPr lang="en-US" sz="2400" dirty="0">
              <a:solidFill>
                <a:schemeClr val="bg1"/>
              </a:solidFill>
              <a:latin typeface="Söhne"/>
            </a:endParaRPr>
          </a:p>
          <a:p>
            <a:r>
              <a:rPr lang="en-US" sz="2400" dirty="0">
                <a:solidFill>
                  <a:schemeClr val="bg1"/>
                </a:solidFill>
                <a:latin typeface="Söhne"/>
              </a:rPr>
              <a:t>The Average Precision Score for zero-day malware detection reflects the overall discriminatory power of the micro-level classifiers in distinguishing between normal and anomalous instances, including zero-day </a:t>
            </a:r>
            <a:r>
              <a:rPr lang="en-US" sz="2400" dirty="0" err="1">
                <a:solidFill>
                  <a:schemeClr val="bg1"/>
                </a:solidFill>
                <a:latin typeface="Söhne"/>
              </a:rPr>
              <a:t>malware.Using</a:t>
            </a:r>
            <a:r>
              <a:rPr lang="en-US" sz="2400" dirty="0">
                <a:solidFill>
                  <a:schemeClr val="bg1"/>
                </a:solidFill>
                <a:latin typeface="Söhne"/>
              </a:rPr>
              <a:t> Average Precision Score an accuracy of 98.6+% was achieved.</a:t>
            </a:r>
          </a:p>
          <a:p>
            <a:pPr marL="0" indent="0">
              <a:buNone/>
            </a:pPr>
            <a:endParaRPr lang="en-US" sz="2400" dirty="0">
              <a:solidFill>
                <a:schemeClr val="bg1"/>
              </a:solidFill>
              <a:latin typeface="Söhne"/>
            </a:endParaRPr>
          </a:p>
        </p:txBody>
      </p:sp>
    </p:spTree>
    <p:extLst>
      <p:ext uri="{BB962C8B-B14F-4D97-AF65-F5344CB8AC3E}">
        <p14:creationId xmlns:p14="http://schemas.microsoft.com/office/powerpoint/2010/main" val="2974519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EB7BD7-3A93-9A8B-C55D-FEB80483F26C}"/>
              </a:ext>
            </a:extLst>
          </p:cNvPr>
          <p:cNvSpPr txBox="1"/>
          <p:nvPr/>
        </p:nvSpPr>
        <p:spPr>
          <a:xfrm>
            <a:off x="3121572" y="2448910"/>
            <a:ext cx="6408549" cy="1446550"/>
          </a:xfrm>
          <a:prstGeom prst="rect">
            <a:avLst/>
          </a:prstGeom>
          <a:noFill/>
        </p:spPr>
        <p:txBody>
          <a:bodyPr wrap="none" rtlCol="0">
            <a:spAutoFit/>
          </a:bodyPr>
          <a:lstStyle/>
          <a:p>
            <a:r>
              <a:rPr lang="en-US" sz="8800" b="1" dirty="0">
                <a:solidFill>
                  <a:schemeClr val="bg1"/>
                </a:solidFill>
              </a:rPr>
              <a:t>CONCLUSION</a:t>
            </a:r>
          </a:p>
        </p:txBody>
      </p:sp>
    </p:spTree>
    <p:extLst>
      <p:ext uri="{BB962C8B-B14F-4D97-AF65-F5344CB8AC3E}">
        <p14:creationId xmlns:p14="http://schemas.microsoft.com/office/powerpoint/2010/main" val="3173376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5A87D8-79CA-8BFC-DF41-AFF904D4626E}"/>
              </a:ext>
            </a:extLst>
          </p:cNvPr>
          <p:cNvSpPr txBox="1"/>
          <p:nvPr/>
        </p:nvSpPr>
        <p:spPr>
          <a:xfrm>
            <a:off x="94593" y="197346"/>
            <a:ext cx="11624441" cy="6463308"/>
          </a:xfrm>
          <a:prstGeom prst="rect">
            <a:avLst/>
          </a:prstGeom>
          <a:noFill/>
        </p:spPr>
        <p:txBody>
          <a:bodyPr wrap="square" rtlCol="0">
            <a:spAutoFit/>
          </a:bodyPr>
          <a:lstStyle/>
          <a:p>
            <a:r>
              <a:rPr lang="en-US" dirty="0">
                <a:solidFill>
                  <a:schemeClr val="bg1"/>
                </a:solidFill>
              </a:rPr>
              <a:t>In conclusion, our study revealed intriguing insights into the relationship between training sample size, classification accuracy, and Hamming loss error in the context of the CICIDS 2018 dataset for network traffic flow analysis.</a:t>
            </a:r>
          </a:p>
          <a:p>
            <a:endParaRPr lang="en-US" dirty="0">
              <a:solidFill>
                <a:schemeClr val="bg1"/>
              </a:solidFill>
            </a:endParaRPr>
          </a:p>
          <a:p>
            <a:r>
              <a:rPr lang="en-US" dirty="0">
                <a:solidFill>
                  <a:schemeClr val="bg1"/>
                </a:solidFill>
              </a:rPr>
              <a:t>With a dataset size of </a:t>
            </a:r>
            <a:r>
              <a:rPr lang="en-US" dirty="0">
                <a:solidFill>
                  <a:srgbClr val="FFFF00"/>
                </a:solidFill>
              </a:rPr>
              <a:t>40,000 samples, </a:t>
            </a:r>
            <a:r>
              <a:rPr lang="en-US" dirty="0">
                <a:solidFill>
                  <a:schemeClr val="bg1"/>
                </a:solidFill>
              </a:rPr>
              <a:t>we observed a notable trade-off between classification accuracy and Hamming loss error. </a:t>
            </a:r>
            <a:r>
              <a:rPr lang="en-US" b="1" dirty="0">
                <a:solidFill>
                  <a:srgbClr val="FFFF00"/>
                </a:solidFill>
              </a:rPr>
              <a:t>While the accuracy metrics showed a decrease due to the limited training data, the Hamming loss error exhibited a more favorable performance. </a:t>
            </a:r>
            <a:r>
              <a:rPr lang="en-US" dirty="0">
                <a:solidFill>
                  <a:schemeClr val="bg1"/>
                </a:solidFill>
              </a:rPr>
              <a:t>This suggests that despite the lower accuracy, the model demonstrated improved precision in multi-label classification, indicating its ability to correctly predict the presence or absence of multiple attack types within network traffic flows.</a:t>
            </a:r>
          </a:p>
          <a:p>
            <a:endParaRPr lang="en-US" dirty="0">
              <a:solidFill>
                <a:schemeClr val="bg1"/>
              </a:solidFill>
            </a:endParaRPr>
          </a:p>
          <a:p>
            <a:r>
              <a:rPr lang="en-US" dirty="0">
                <a:solidFill>
                  <a:schemeClr val="bg1"/>
                </a:solidFill>
              </a:rPr>
              <a:t>Conversely, when we increased the training sample size to</a:t>
            </a:r>
            <a:r>
              <a:rPr lang="en-US" dirty="0">
                <a:solidFill>
                  <a:srgbClr val="FFFF00"/>
                </a:solidFill>
              </a:rPr>
              <a:t> 400,000 we observed a significant improvement in classification accuracy across both macro and micro level classifiers. </a:t>
            </a:r>
            <a:r>
              <a:rPr lang="en-US" dirty="0">
                <a:solidFill>
                  <a:schemeClr val="bg1"/>
                </a:solidFill>
              </a:rPr>
              <a:t>This larger dataset facilitated better model generalization and resulted in higher accuracy rates, reflecting the model's enhanced ability to accurately classify network traffic instances.</a:t>
            </a:r>
          </a:p>
          <a:p>
            <a:endParaRPr lang="en-US" dirty="0">
              <a:solidFill>
                <a:schemeClr val="bg1"/>
              </a:solidFill>
            </a:endParaRPr>
          </a:p>
          <a:p>
            <a:r>
              <a:rPr lang="en-US" dirty="0">
                <a:solidFill>
                  <a:schemeClr val="bg1"/>
                </a:solidFill>
              </a:rPr>
              <a:t>However, intriguingly, </a:t>
            </a:r>
            <a:r>
              <a:rPr lang="en-US" dirty="0">
                <a:solidFill>
                  <a:srgbClr val="FFFF00"/>
                </a:solidFill>
              </a:rPr>
              <a:t>the Hamming loss error showed an unexpected increase with the larger training sample size. </a:t>
            </a:r>
            <a:r>
              <a:rPr lang="en-US" dirty="0">
                <a:solidFill>
                  <a:schemeClr val="bg1"/>
                </a:solidFill>
              </a:rPr>
              <a:t>Despite the improved accuracy, the higher Hamming loss suggests a greater discrepancy between the predicted and actual labels for each sample, indicating a decrease in precision at the multi-label classification level.</a:t>
            </a:r>
          </a:p>
          <a:p>
            <a:endParaRPr lang="en-US" dirty="0">
              <a:solidFill>
                <a:schemeClr val="bg1"/>
              </a:solidFill>
            </a:endParaRPr>
          </a:p>
          <a:p>
            <a:r>
              <a:rPr lang="en-US" dirty="0">
                <a:solidFill>
                  <a:schemeClr val="bg1"/>
                </a:solidFill>
              </a:rPr>
              <a:t>These findings underscore the importance of considering both accuracy and Hamming loss error metrics when evaluating the performance of multi-label classification models for network traffic analysis. While larger training sample sizes may lead to improved accuracy, they may not necessarily translate to better precision in multi-label classification tasks. Thus, achieving a balance between sample size, classification accuracy, and Hamming loss error is essential for developing robust and reliable intrusion detection systems and network anomaly detection algorithms in real-world cybersecurity applications.</a:t>
            </a:r>
          </a:p>
        </p:txBody>
      </p:sp>
    </p:spTree>
    <p:extLst>
      <p:ext uri="{BB962C8B-B14F-4D97-AF65-F5344CB8AC3E}">
        <p14:creationId xmlns:p14="http://schemas.microsoft.com/office/powerpoint/2010/main" val="3891823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7734-4B2B-0C1B-663B-AFD96425C77A}"/>
              </a:ext>
            </a:extLst>
          </p:cNvPr>
          <p:cNvSpPr>
            <a:spLocks noGrp="1"/>
          </p:cNvSpPr>
          <p:nvPr>
            <p:ph type="ctrTitle"/>
          </p:nvPr>
        </p:nvSpPr>
        <p:spPr>
          <a:xfrm>
            <a:off x="1852246" y="2676342"/>
            <a:ext cx="8487508" cy="1247409"/>
          </a:xfrm>
        </p:spPr>
        <p:txBody>
          <a:bodyPr>
            <a:noAutofit/>
          </a:bodyPr>
          <a:lstStyle/>
          <a:p>
            <a:r>
              <a:rPr lang="en-US" sz="8800" b="1" dirty="0">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626636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2502</TotalTime>
  <Words>1927</Words>
  <Application>Microsoft Macintosh PowerPoint</Application>
  <PresentationFormat>Widescreen</PresentationFormat>
  <Paragraphs>147</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Courier New</vt:lpstr>
      <vt:lpstr>Söhne</vt:lpstr>
      <vt:lpstr>Wingdings</vt:lpstr>
      <vt:lpstr>Office Theme</vt:lpstr>
      <vt:lpstr>INTEGRATING  SUPERVISED  AND UNSUPERVISED  LEARNING FOR ZERO DAY  MALWARE DETECTION  </vt:lpstr>
      <vt:lpstr>Introduction</vt:lpstr>
      <vt:lpstr>Threat Landscape</vt:lpstr>
      <vt:lpstr>Traditional Cybersecurity Techniques</vt:lpstr>
      <vt:lpstr>Proposed Strategy  AI-based framework combining supervised and unsupervised Machine learning in addition to traditional cybersecurity practices</vt:lpstr>
      <vt:lpstr>HYBRID LEARNING APPROACH</vt:lpstr>
      <vt:lpstr>SINGLE  CLASS  SVM</vt:lpstr>
      <vt:lpstr>PowerPoint Presentation</vt:lpstr>
      <vt:lpstr>DATASET  AND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Experimental Results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MORGAN, KELLY</dc:creator>
  <cp:lastModifiedBy>sanyam jindal</cp:lastModifiedBy>
  <cp:revision>48</cp:revision>
  <dcterms:created xsi:type="dcterms:W3CDTF">2023-04-13T20:33:38Z</dcterms:created>
  <dcterms:modified xsi:type="dcterms:W3CDTF">2024-05-01T09:21:09Z</dcterms:modified>
</cp:coreProperties>
</file>